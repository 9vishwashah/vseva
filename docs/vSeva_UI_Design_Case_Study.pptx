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defining UI vs UX in one sentence each, then introduce vSeva as the real project used as the case study. Mention the screenshot is the real app running with sample (demo) data, not real members’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on the screenshots: 1 Sankalp ring shows progress (visibility). 2 The same card style appears on Dashboard and Group Analytics (consistency). 3 Add Vihar is always visible (recognition over recall). 4 Greeting, then action, then big numbers, then details (hierarchy). 5 Bottom navigation and cards are patterns people know from WhatsApp and Google Maps. Screens show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these are typical mistakes, not a claim that vSeva is badly designed. For each row say the problem, name the principle it breaks, and the effect on a Sevak or Captain. Finish with the two flows: the same task done in 3 clear steps versus 6 confusing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simplify, prioritize, guide, optimize. Then the before/after of vSeva’s own redesign work, and the principles behind each decision. Close with the one-line takeaway: good UI is useful, understandable, consistent, efficient, accessible, responsive and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A8B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A8B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A8B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11480"/>
            <a:ext cx="5029200" cy="1005840"/>
          </a:xfrm>
          <a:prstGeom prst="rect">
            <a:avLst/>
          </a:prstGeom>
          <a:noFill/>
          <a:ln/>
        </p:spPr>
        <p:txBody>
          <a:bodyPr wrap="square" lIns="0" tIns="0" rIns="0" bIns="0" rtlCol="0" anchor="t"/>
          <a:lstStyle/>
          <a:p>
            <a:pPr indent="0" marL="0">
              <a:buNone/>
            </a:pPr>
            <a:r>
              <a:rPr lang="en-US" sz="3200" b="1" dirty="0">
                <a:solidFill>
                  <a:srgbClr val="241C17"/>
                </a:solidFill>
                <a:latin typeface="Calibri" pitchFamily="34" charset="0"/>
                <a:ea typeface="Calibri" pitchFamily="34" charset="-122"/>
                <a:cs typeface="Calibri" pitchFamily="34" charset="-120"/>
              </a:rPr>
              <a:t>UI Design with a Real-Life App Example</a:t>
            </a:r>
            <a:endParaRPr lang="en-US" sz="3200" dirty="0"/>
          </a:p>
        </p:txBody>
      </p:sp>
      <p:sp>
        <p:nvSpPr>
          <p:cNvPr id="3" name="Text 1"/>
          <p:cNvSpPr txBox="1"/>
          <p:nvPr/>
        </p:nvSpPr>
        <p:spPr>
          <a:xfrm>
            <a:off x="457200" y="1481328"/>
            <a:ext cx="5029200" cy="310896"/>
          </a:xfrm>
          <a:prstGeom prst="rect">
            <a:avLst/>
          </a:prstGeom>
          <a:noFill/>
          <a:ln/>
        </p:spPr>
        <p:txBody>
          <a:bodyPr wrap="square" lIns="0" tIns="0" rIns="0" bIns="0" rtlCol="0" anchor="ctr"/>
          <a:lstStyle/>
          <a:p>
            <a:pPr indent="0" marL="0">
              <a:buNone/>
            </a:pPr>
            <a:r>
              <a:rPr lang="en-US" sz="1800" b="1" dirty="0">
                <a:solidFill>
                  <a:srgbClr val="EA580C"/>
                </a:solidFill>
                <a:latin typeface="Calibri" pitchFamily="34" charset="0"/>
                <a:ea typeface="Calibri" pitchFamily="34" charset="-122"/>
                <a:cs typeface="Calibri" pitchFamily="34" charset="-120"/>
              </a:rPr>
              <a:t>Case Study: vSeva</a:t>
            </a:r>
            <a:endParaRPr lang="en-US" sz="1800" dirty="0"/>
          </a:p>
        </p:txBody>
      </p:sp>
      <p:sp>
        <p:nvSpPr>
          <p:cNvPr id="4" name="Text 2"/>
          <p:cNvSpPr txBox="1"/>
          <p:nvPr/>
        </p:nvSpPr>
        <p:spPr>
          <a:xfrm>
            <a:off x="457200" y="1938528"/>
            <a:ext cx="5029200" cy="256032"/>
          </a:xfrm>
          <a:prstGeom prst="rect">
            <a:avLst/>
          </a:prstGeom>
          <a:noFill/>
          <a:ln/>
        </p:spPr>
        <p:txBody>
          <a:bodyPr wrap="square" lIns="0" tIns="0" rIns="0" bIns="0" rtlCol="0" anchor="ctr"/>
          <a:lstStyle/>
          <a:p>
            <a:pPr indent="0" marL="0">
              <a:buNone/>
            </a:pPr>
            <a:r>
              <a:rPr lang="en-US" sz="1500" b="1" dirty="0">
                <a:solidFill>
                  <a:srgbClr val="241C17"/>
                </a:solidFill>
                <a:latin typeface="Calibri" pitchFamily="34" charset="0"/>
                <a:ea typeface="Calibri" pitchFamily="34" charset="-122"/>
                <a:cs typeface="Calibri" pitchFamily="34" charset="-120"/>
              </a:rPr>
              <a:t>What is UI Design?</a:t>
            </a:r>
            <a:endParaRPr lang="en-US" sz="1500" dirty="0"/>
          </a:p>
        </p:txBody>
      </p:sp>
      <p:sp>
        <p:nvSpPr>
          <p:cNvPr id="5" name="Text 3"/>
          <p:cNvSpPr txBox="1"/>
          <p:nvPr/>
        </p:nvSpPr>
        <p:spPr>
          <a:xfrm>
            <a:off x="457200" y="2240280"/>
            <a:ext cx="502920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41C17"/>
                </a:solidFill>
                <a:latin typeface="Calibri" pitchFamily="34" charset="0"/>
                <a:ea typeface="Calibri" pitchFamily="34" charset="-122"/>
                <a:cs typeface="Calibri" pitchFamily="34" charset="-120"/>
              </a:rPr>
              <a:t>UI defines how a product looks, feels and communicates with users.</a:t>
            </a:r>
            <a:endParaRPr lang="en-US" sz="1300" dirty="0"/>
          </a:p>
          <a:p>
            <a:pPr marL="177800" indent="-177800">
              <a:spcAft>
                <a:spcPts val="500"/>
              </a:spcAft>
              <a:buSzPct val="100000"/>
              <a:buChar char="•"/>
            </a:pPr>
            <a:r>
              <a:rPr lang="en-US" sz="1300" dirty="0">
                <a:solidFill>
                  <a:srgbClr val="241C17"/>
                </a:solidFill>
                <a:latin typeface="Calibri" pitchFamily="34" charset="0"/>
                <a:ea typeface="Calibri" pitchFamily="34" charset="-122"/>
                <a:cs typeface="Calibri" pitchFamily="34" charset="-120"/>
              </a:rPr>
              <a:t>Good UI makes actions clear, predictable and easy to perform.</a:t>
            </a:r>
            <a:endParaRPr lang="en-US" sz="1300" dirty="0"/>
          </a:p>
          <a:p>
            <a:pPr marL="177800" indent="-177800">
              <a:spcAft>
                <a:spcPts val="500"/>
              </a:spcAft>
              <a:buSzPct val="100000"/>
              <a:buChar char="•"/>
            </a:pPr>
            <a:r>
              <a:rPr lang="en-US" sz="1300" dirty="0">
                <a:solidFill>
                  <a:srgbClr val="241C17"/>
                </a:solidFill>
                <a:latin typeface="Calibri" pitchFamily="34" charset="0"/>
                <a:ea typeface="Calibri" pitchFamily="34" charset="-122"/>
                <a:cs typeface="Calibri" pitchFamily="34" charset="-120"/>
              </a:rPr>
              <a:t>Good UX ensures the interface supports the user’s goals efficiently.</a:t>
            </a:r>
            <a:endParaRPr lang="en-US" sz="1300" dirty="0"/>
          </a:p>
        </p:txBody>
      </p:sp>
      <p:sp>
        <p:nvSpPr>
          <p:cNvPr id="6" name="Shape 4"/>
          <p:cNvSpPr/>
          <p:nvPr/>
        </p:nvSpPr>
        <p:spPr>
          <a:xfrm>
            <a:off x="457200" y="3566160"/>
            <a:ext cx="5029200" cy="822960"/>
          </a:xfrm>
          <a:prstGeom prst="roundRect">
            <a:avLst>
              <a:gd name="adj" fmla="val 11111"/>
            </a:avLst>
          </a:prstGeom>
          <a:solidFill>
            <a:srgbClr val="FFF3E6"/>
          </a:solidFill>
          <a:ln w="9525">
            <a:solidFill>
              <a:srgbClr val="F8D2AE"/>
            </a:solidFill>
            <a:prstDash val="solid"/>
          </a:ln>
        </p:spPr>
      </p:sp>
      <p:sp>
        <p:nvSpPr>
          <p:cNvPr id="7" name="Text 5"/>
          <p:cNvSpPr txBox="1"/>
          <p:nvPr/>
        </p:nvSpPr>
        <p:spPr>
          <a:xfrm>
            <a:off x="621792" y="3566160"/>
            <a:ext cx="4709160" cy="822960"/>
          </a:xfrm>
          <a:prstGeom prst="rect">
            <a:avLst/>
          </a:prstGeom>
          <a:noFill/>
          <a:ln/>
        </p:spPr>
        <p:txBody>
          <a:bodyPr wrap="square" lIns="0" tIns="0" rIns="0" bIns="0" rtlCol="0" anchor="ctr"/>
          <a:lstStyle/>
          <a:p>
            <a:pPr indent="0" marL="0">
              <a:buNone/>
            </a:pPr>
            <a:r>
              <a:rPr lang="en-US" sz="1250" b="1" dirty="0">
                <a:solidFill>
                  <a:srgbClr val="C2410C"/>
                </a:solidFill>
                <a:latin typeface="Calibri" pitchFamily="34" charset="0"/>
                <a:ea typeface="Calibri" pitchFamily="34" charset="-122"/>
                <a:cs typeface="Calibri" pitchFamily="34" charset="-120"/>
              </a:rPr>
              <a:t>vSeva </a:t>
            </a:r>
            <a:pPr indent="0" marL="0">
              <a:buNone/>
            </a:pPr>
            <a:r>
              <a:rPr lang="en-US" sz="1250" dirty="0">
                <a:solidFill>
                  <a:srgbClr val="241C17"/>
                </a:solidFill>
                <a:latin typeface="Calibri" pitchFamily="34" charset="0"/>
                <a:ea typeface="Calibri" pitchFamily="34" charset="-122"/>
                <a:cs typeface="Calibri" pitchFamily="34" charset="-120"/>
              </a:rPr>
              <a:t>is a digital platform for managing Vihar Seva, Sevaks, Vihars, statistics, approvals, notifications and organizational activities.</a:t>
            </a:r>
            <a:endParaRPr lang="en-US" sz="1250" dirty="0"/>
          </a:p>
        </p:txBody>
      </p:sp>
      <p:sp>
        <p:nvSpPr>
          <p:cNvPr id="8" name="Text 6"/>
          <p:cNvSpPr txBox="1"/>
          <p:nvPr/>
        </p:nvSpPr>
        <p:spPr>
          <a:xfrm>
            <a:off x="457200" y="4498848"/>
            <a:ext cx="5029200" cy="274320"/>
          </a:xfrm>
          <a:prstGeom prst="rect">
            <a:avLst/>
          </a:prstGeom>
          <a:noFill/>
          <a:ln/>
        </p:spPr>
        <p:txBody>
          <a:bodyPr wrap="square" lIns="0" tIns="0" rIns="0" bIns="0" rtlCol="0" anchor="ctr"/>
          <a:lstStyle/>
          <a:p>
            <a:pPr indent="0" marL="0">
              <a:buNone/>
            </a:pPr>
            <a:r>
              <a:rPr lang="en-US" sz="1100" i="1" dirty="0">
                <a:solidFill>
                  <a:srgbClr val="6B5B50"/>
                </a:solidFill>
                <a:latin typeface="Calibri" pitchFamily="34" charset="0"/>
                <a:ea typeface="Calibri" pitchFamily="34" charset="-122"/>
                <a:cs typeface="Calibri" pitchFamily="34" charset="-120"/>
              </a:rPr>
              <a:t>Real-life case study: designing for Sevaks, Captains and Vihar organizations.</a:t>
            </a:r>
            <a:endParaRPr lang="en-US" sz="1100" dirty="0"/>
          </a:p>
        </p:txBody>
      </p:sp>
      <p:sp>
        <p:nvSpPr>
          <p:cNvPr id="9" name="Shape 7"/>
          <p:cNvSpPr/>
          <p:nvPr/>
        </p:nvSpPr>
        <p:spPr>
          <a:xfrm>
            <a:off x="5852160" y="320040"/>
            <a:ext cx="2834640" cy="4480560"/>
          </a:xfrm>
          <a:prstGeom prst="roundRect">
            <a:avLst>
              <a:gd name="adj" fmla="val 3226"/>
            </a:avLst>
          </a:prstGeom>
          <a:solidFill>
            <a:srgbClr val="FFF3E6"/>
          </a:solidFill>
          <a:ln w="9525">
            <a:solidFill>
              <a:srgbClr val="F8D2AE"/>
            </a:solidFill>
            <a:prstDash val="solid"/>
          </a:ln>
        </p:spPr>
      </p:sp>
      <p:pic>
        <p:nvPicPr>
          <p:cNvPr id="10" name="Image 0" descr="vSeva Sevak dashboard (sample data)">    </p:cNvPr>
          <p:cNvPicPr>
            <a:picLocks noChangeAspect="1"/>
          </p:cNvPicPr>
          <p:nvPr/>
        </p:nvPicPr>
        <p:blipFill>
          <a:blip r:embed="rId1"/>
          <a:stretch>
            <a:fillRect/>
          </a:stretch>
        </p:blipFill>
        <p:spPr>
          <a:xfrm>
            <a:off x="6339456" y="457200"/>
            <a:ext cx="1860047" cy="3977640"/>
          </a:xfrm>
          <a:prstGeom prst="rect">
            <a:avLst/>
          </a:prstGeom>
        </p:spPr>
      </p:pic>
      <p:sp>
        <p:nvSpPr>
          <p:cNvPr id="11" name="Text 8"/>
          <p:cNvSpPr txBox="1"/>
          <p:nvPr/>
        </p:nvSpPr>
        <p:spPr>
          <a:xfrm>
            <a:off x="5852160" y="4507992"/>
            <a:ext cx="2834640" cy="228600"/>
          </a:xfrm>
          <a:prstGeom prst="rect">
            <a:avLst/>
          </a:prstGeom>
          <a:noFill/>
          <a:ln/>
        </p:spPr>
        <p:txBody>
          <a:bodyPr wrap="square" lIns="0" tIns="0" rIns="0" bIns="0" rtlCol="0" anchor="ctr"/>
          <a:lstStyle/>
          <a:p>
            <a:pPr algn="ctr" indent="0" marL="0">
              <a:buNone/>
            </a:pPr>
            <a:r>
              <a:rPr lang="en-US" sz="1000" dirty="0">
                <a:solidFill>
                  <a:srgbClr val="6B5B50"/>
                </a:solidFill>
                <a:latin typeface="Calibri" pitchFamily="34" charset="0"/>
                <a:ea typeface="Calibri" pitchFamily="34" charset="-122"/>
                <a:cs typeface="Calibri" pitchFamily="34" charset="-120"/>
              </a:rPr>
              <a:t>Real vSeva Sevak dashboard · sample data</a:t>
            </a:r>
            <a:endParaRPr lang="en-US" sz="10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A8B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241C17"/>
                </a:solidFill>
                <a:latin typeface="Calibri" pitchFamily="34" charset="0"/>
                <a:ea typeface="Calibri" pitchFamily="34" charset="-122"/>
                <a:cs typeface="Calibri" pitchFamily="34" charset="-120"/>
              </a:rPr>
              <a:t>Good Design — What Works?</a:t>
            </a:r>
            <a:endParaRPr lang="en-US" sz="2800" dirty="0"/>
          </a:p>
        </p:txBody>
      </p:sp>
      <p:pic>
        <p:nvPicPr>
          <p:cNvPr id="3" name="Image 0" descr="vSeva dashboard">    </p:cNvPr>
          <p:cNvPicPr>
            <a:picLocks noChangeAspect="1"/>
          </p:cNvPicPr>
          <p:nvPr/>
        </p:nvPicPr>
        <p:blipFill>
          <a:blip r:embed="rId1"/>
          <a:stretch>
            <a:fillRect/>
          </a:stretch>
        </p:blipFill>
        <p:spPr>
          <a:xfrm>
            <a:off x="457200" y="914400"/>
            <a:ext cx="1603489" cy="3429000"/>
          </a:xfrm>
          <a:prstGeom prst="rect">
            <a:avLst/>
          </a:prstGeom>
        </p:spPr>
      </p:pic>
      <p:pic>
        <p:nvPicPr>
          <p:cNvPr id="4" name="Image 1" descr="vSeva Group Analytics">    </p:cNvPr>
          <p:cNvPicPr>
            <a:picLocks noChangeAspect="1"/>
          </p:cNvPicPr>
          <p:nvPr/>
        </p:nvPicPr>
        <p:blipFill>
          <a:blip r:embed="rId2"/>
          <a:stretch>
            <a:fillRect/>
          </a:stretch>
        </p:blipFill>
        <p:spPr>
          <a:xfrm>
            <a:off x="2152129" y="914400"/>
            <a:ext cx="1603489" cy="3429000"/>
          </a:xfrm>
          <a:prstGeom prst="rect">
            <a:avLst/>
          </a:prstGeom>
        </p:spPr>
      </p:pic>
      <p:sp>
        <p:nvSpPr>
          <p:cNvPr id="5" name="Text 1"/>
          <p:cNvSpPr txBox="1"/>
          <p:nvPr/>
        </p:nvSpPr>
        <p:spPr>
          <a:xfrm>
            <a:off x="457200" y="4379976"/>
            <a:ext cx="1603489" cy="201168"/>
          </a:xfrm>
          <a:prstGeom prst="rect">
            <a:avLst/>
          </a:prstGeom>
          <a:noFill/>
          <a:ln/>
        </p:spPr>
        <p:txBody>
          <a:bodyPr wrap="square" lIns="0" tIns="0" rIns="0" bIns="0" rtlCol="0" anchor="ctr"/>
          <a:lstStyle/>
          <a:p>
            <a:pPr algn="ctr" indent="0" marL="0">
              <a:buNone/>
            </a:pPr>
            <a:r>
              <a:rPr lang="en-US" sz="1000" dirty="0">
                <a:solidFill>
                  <a:srgbClr val="6B5B50"/>
                </a:solidFill>
                <a:latin typeface="Calibri" pitchFamily="34" charset="0"/>
                <a:ea typeface="Calibri" pitchFamily="34" charset="-122"/>
                <a:cs typeface="Calibri" pitchFamily="34" charset="-120"/>
              </a:rPr>
              <a:t>Dashboard</a:t>
            </a:r>
            <a:endParaRPr lang="en-US" sz="1000" dirty="0"/>
          </a:p>
        </p:txBody>
      </p:sp>
      <p:sp>
        <p:nvSpPr>
          <p:cNvPr id="6" name="Text 2"/>
          <p:cNvSpPr txBox="1"/>
          <p:nvPr/>
        </p:nvSpPr>
        <p:spPr>
          <a:xfrm>
            <a:off x="2152129" y="4379976"/>
            <a:ext cx="1603489" cy="201168"/>
          </a:xfrm>
          <a:prstGeom prst="rect">
            <a:avLst/>
          </a:prstGeom>
          <a:noFill/>
          <a:ln/>
        </p:spPr>
        <p:txBody>
          <a:bodyPr wrap="square" lIns="0" tIns="0" rIns="0" bIns="0" rtlCol="0" anchor="ctr"/>
          <a:lstStyle/>
          <a:p>
            <a:pPr algn="ctr" indent="0" marL="0">
              <a:buNone/>
            </a:pPr>
            <a:r>
              <a:rPr lang="en-US" sz="1000" dirty="0">
                <a:solidFill>
                  <a:srgbClr val="6B5B50"/>
                </a:solidFill>
                <a:latin typeface="Calibri" pitchFamily="34" charset="0"/>
                <a:ea typeface="Calibri" pitchFamily="34" charset="-122"/>
                <a:cs typeface="Calibri" pitchFamily="34" charset="-120"/>
              </a:rPr>
              <a:t>Group Analytics</a:t>
            </a:r>
            <a:endParaRPr lang="en-US" sz="1000" dirty="0"/>
          </a:p>
        </p:txBody>
      </p:sp>
      <p:sp>
        <p:nvSpPr>
          <p:cNvPr id="7" name="Shape 3"/>
          <p:cNvSpPr/>
          <p:nvPr/>
        </p:nvSpPr>
        <p:spPr>
          <a:xfrm>
            <a:off x="365760" y="1207008"/>
            <a:ext cx="237744" cy="237744"/>
          </a:xfrm>
          <a:prstGeom prst="ellipse">
            <a:avLst/>
          </a:prstGeom>
          <a:solidFill>
            <a:srgbClr val="EA580C"/>
          </a:solidFill>
          <a:ln w="6350">
            <a:solidFill>
              <a:srgbClr val="EA580C"/>
            </a:solidFill>
            <a:prstDash val="solid"/>
          </a:ln>
        </p:spPr>
      </p:sp>
      <p:sp>
        <p:nvSpPr>
          <p:cNvPr id="8" name="Text 4"/>
          <p:cNvSpPr txBox="1"/>
          <p:nvPr/>
        </p:nvSpPr>
        <p:spPr>
          <a:xfrm>
            <a:off x="365760" y="120700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9" name="Shape 5"/>
          <p:cNvSpPr/>
          <p:nvPr/>
        </p:nvSpPr>
        <p:spPr>
          <a:xfrm>
            <a:off x="365760" y="1704213"/>
            <a:ext cx="237744" cy="237744"/>
          </a:xfrm>
          <a:prstGeom prst="ellipse">
            <a:avLst/>
          </a:prstGeom>
          <a:solidFill>
            <a:srgbClr val="EA580C"/>
          </a:solidFill>
          <a:ln w="6350">
            <a:solidFill>
              <a:srgbClr val="EA580C"/>
            </a:solidFill>
            <a:prstDash val="solid"/>
          </a:ln>
        </p:spPr>
      </p:sp>
      <p:sp>
        <p:nvSpPr>
          <p:cNvPr id="10" name="Text 6"/>
          <p:cNvSpPr txBox="1"/>
          <p:nvPr/>
        </p:nvSpPr>
        <p:spPr>
          <a:xfrm>
            <a:off x="365760" y="17042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365760" y="2064258"/>
            <a:ext cx="237744" cy="237744"/>
          </a:xfrm>
          <a:prstGeom prst="ellipse">
            <a:avLst/>
          </a:prstGeom>
          <a:solidFill>
            <a:srgbClr val="EA580C"/>
          </a:solidFill>
          <a:ln w="6350">
            <a:solidFill>
              <a:srgbClr val="EA580C"/>
            </a:solidFill>
            <a:prstDash val="solid"/>
          </a:ln>
        </p:spPr>
      </p:sp>
      <p:sp>
        <p:nvSpPr>
          <p:cNvPr id="12" name="Text 8"/>
          <p:cNvSpPr txBox="1"/>
          <p:nvPr/>
        </p:nvSpPr>
        <p:spPr>
          <a:xfrm>
            <a:off x="365760" y="206425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Shape 9"/>
          <p:cNvSpPr/>
          <p:nvPr/>
        </p:nvSpPr>
        <p:spPr>
          <a:xfrm>
            <a:off x="365760" y="2921508"/>
            <a:ext cx="237744" cy="237744"/>
          </a:xfrm>
          <a:prstGeom prst="ellipse">
            <a:avLst/>
          </a:prstGeom>
          <a:solidFill>
            <a:srgbClr val="EA580C"/>
          </a:solidFill>
          <a:ln w="6350">
            <a:solidFill>
              <a:srgbClr val="EA580C"/>
            </a:solidFill>
            <a:prstDash val="solid"/>
          </a:ln>
        </p:spPr>
      </p:sp>
      <p:sp>
        <p:nvSpPr>
          <p:cNvPr id="14" name="Text 10"/>
          <p:cNvSpPr txBox="1"/>
          <p:nvPr/>
        </p:nvSpPr>
        <p:spPr>
          <a:xfrm>
            <a:off x="365760" y="292150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Shape 11"/>
          <p:cNvSpPr/>
          <p:nvPr/>
        </p:nvSpPr>
        <p:spPr>
          <a:xfrm>
            <a:off x="365760" y="4070223"/>
            <a:ext cx="237744" cy="237744"/>
          </a:xfrm>
          <a:prstGeom prst="ellipse">
            <a:avLst/>
          </a:prstGeom>
          <a:solidFill>
            <a:srgbClr val="EA580C"/>
          </a:solidFill>
          <a:ln w="6350">
            <a:solidFill>
              <a:srgbClr val="EA580C"/>
            </a:solidFill>
            <a:prstDash val="solid"/>
          </a:ln>
        </p:spPr>
      </p:sp>
      <p:sp>
        <p:nvSpPr>
          <p:cNvPr id="16" name="Text 12"/>
          <p:cNvSpPr txBox="1"/>
          <p:nvPr/>
        </p:nvSpPr>
        <p:spPr>
          <a:xfrm>
            <a:off x="365760" y="407022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7" name="Shape 13"/>
          <p:cNvSpPr/>
          <p:nvPr/>
        </p:nvSpPr>
        <p:spPr>
          <a:xfrm>
            <a:off x="2060689" y="1721358"/>
            <a:ext cx="237744" cy="237744"/>
          </a:xfrm>
          <a:prstGeom prst="ellipse">
            <a:avLst/>
          </a:prstGeom>
          <a:solidFill>
            <a:srgbClr val="EA580C"/>
          </a:solidFill>
          <a:ln w="6350">
            <a:solidFill>
              <a:srgbClr val="EA580C"/>
            </a:solidFill>
            <a:prstDash val="solid"/>
          </a:ln>
        </p:spPr>
      </p:sp>
      <p:sp>
        <p:nvSpPr>
          <p:cNvPr id="18" name="Text 14"/>
          <p:cNvSpPr txBox="1"/>
          <p:nvPr/>
        </p:nvSpPr>
        <p:spPr>
          <a:xfrm>
            <a:off x="2060689" y="172135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Shape 15"/>
          <p:cNvSpPr/>
          <p:nvPr/>
        </p:nvSpPr>
        <p:spPr>
          <a:xfrm>
            <a:off x="3931920" y="914400"/>
            <a:ext cx="4754880" cy="640080"/>
          </a:xfrm>
          <a:prstGeom prst="roundRect">
            <a:avLst>
              <a:gd name="adj" fmla="val 14286"/>
            </a:avLst>
          </a:prstGeom>
          <a:solidFill>
            <a:srgbClr val="FAF6F0"/>
          </a:solidFill>
          <a:ln w="9525">
            <a:solidFill>
              <a:srgbClr val="EADFD2"/>
            </a:solidFill>
            <a:prstDash val="solid"/>
          </a:ln>
        </p:spPr>
      </p:sp>
      <p:sp>
        <p:nvSpPr>
          <p:cNvPr id="20" name="Shape 16"/>
          <p:cNvSpPr/>
          <p:nvPr/>
        </p:nvSpPr>
        <p:spPr>
          <a:xfrm>
            <a:off x="4041648" y="1106424"/>
            <a:ext cx="256032" cy="256032"/>
          </a:xfrm>
          <a:prstGeom prst="ellipse">
            <a:avLst/>
          </a:prstGeom>
          <a:solidFill>
            <a:srgbClr val="EA580C"/>
          </a:solidFill>
          <a:ln w="6350">
            <a:solidFill>
              <a:srgbClr val="EA580C"/>
            </a:solidFill>
            <a:prstDash val="solid"/>
          </a:ln>
        </p:spPr>
      </p:sp>
      <p:sp>
        <p:nvSpPr>
          <p:cNvPr id="21" name="Text 17"/>
          <p:cNvSpPr txBox="1"/>
          <p:nvPr/>
        </p:nvSpPr>
        <p:spPr>
          <a:xfrm>
            <a:off x="4041648" y="110642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ext 18"/>
          <p:cNvSpPr txBox="1"/>
          <p:nvPr/>
        </p:nvSpPr>
        <p:spPr>
          <a:xfrm>
            <a:off x="4434840" y="914400"/>
            <a:ext cx="4160520" cy="640080"/>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VISIBILITY OF SYSTEM STATUS</a:t>
            </a:r>
            <a:endParaRPr lang="en-US" sz="1150" dirty="0"/>
          </a:p>
          <a:p>
            <a:pPr indent="0" marL="0">
              <a:buNone/>
            </a:pPr>
            <a:r>
              <a:rPr lang="en-US" sz="1100" b="1" dirty="0">
                <a:solidFill>
                  <a:srgbClr val="241C17"/>
                </a:solidFill>
                <a:latin typeface="Calibri" pitchFamily="34" charset="0"/>
                <a:ea typeface="Calibri" pitchFamily="34" charset="-122"/>
                <a:cs typeface="Calibri" pitchFamily="34" charset="-120"/>
              </a:rPr>
              <a:t>vSeva: </a:t>
            </a:r>
            <a:pPr indent="0" marL="0">
              <a:buNone/>
            </a:pPr>
            <a:r>
              <a:rPr lang="en-US" sz="1100" dirty="0">
                <a:solidFill>
                  <a:srgbClr val="241C17"/>
                </a:solidFill>
                <a:latin typeface="Calibri" pitchFamily="34" charset="0"/>
                <a:ea typeface="Calibri" pitchFamily="34" charset="-122"/>
                <a:cs typeface="Calibri" pitchFamily="34" charset="-120"/>
              </a:rPr>
              <a:t>Sankalp ring + Vihar statistics</a:t>
            </a:r>
            <a:endParaRPr lang="en-US" sz="1150" dirty="0"/>
          </a:p>
          <a:p>
            <a:pPr indent="0" marL="0">
              <a:buNone/>
            </a:pPr>
            <a:r>
              <a:rPr lang="en-US" sz="1100" b="1" dirty="0">
                <a:solidFill>
                  <a:srgbClr val="15803D"/>
                </a:solidFill>
                <a:latin typeface="Calibri" pitchFamily="34" charset="0"/>
                <a:ea typeface="Calibri" pitchFamily="34" charset="-122"/>
                <a:cs typeface="Calibri" pitchFamily="34" charset="-120"/>
              </a:rPr>
              <a:t>Why: </a:t>
            </a:r>
            <a:pPr indent="0" marL="0">
              <a:buNone/>
            </a:pPr>
            <a:r>
              <a:rPr lang="en-US" sz="1100" dirty="0">
                <a:solidFill>
                  <a:srgbClr val="241C17"/>
                </a:solidFill>
                <a:latin typeface="Calibri" pitchFamily="34" charset="0"/>
                <a:ea typeface="Calibri" pitchFamily="34" charset="-122"/>
                <a:cs typeface="Calibri" pitchFamily="34" charset="-120"/>
              </a:rPr>
              <a:t>Users see their progress at a glance.</a:t>
            </a:r>
            <a:endParaRPr lang="en-US" sz="1150" dirty="0"/>
          </a:p>
        </p:txBody>
      </p:sp>
      <p:sp>
        <p:nvSpPr>
          <p:cNvPr id="23" name="Shape 19"/>
          <p:cNvSpPr/>
          <p:nvPr/>
        </p:nvSpPr>
        <p:spPr>
          <a:xfrm>
            <a:off x="3931920" y="1609344"/>
            <a:ext cx="4754880" cy="640080"/>
          </a:xfrm>
          <a:prstGeom prst="roundRect">
            <a:avLst>
              <a:gd name="adj" fmla="val 14286"/>
            </a:avLst>
          </a:prstGeom>
          <a:solidFill>
            <a:srgbClr val="FAF6F0"/>
          </a:solidFill>
          <a:ln w="9525">
            <a:solidFill>
              <a:srgbClr val="EADFD2"/>
            </a:solidFill>
            <a:prstDash val="solid"/>
          </a:ln>
        </p:spPr>
      </p:sp>
      <p:sp>
        <p:nvSpPr>
          <p:cNvPr id="24" name="Shape 20"/>
          <p:cNvSpPr/>
          <p:nvPr/>
        </p:nvSpPr>
        <p:spPr>
          <a:xfrm>
            <a:off x="4041648" y="1801368"/>
            <a:ext cx="256032" cy="256032"/>
          </a:xfrm>
          <a:prstGeom prst="ellipse">
            <a:avLst/>
          </a:prstGeom>
          <a:solidFill>
            <a:srgbClr val="EA580C"/>
          </a:solidFill>
          <a:ln w="6350">
            <a:solidFill>
              <a:srgbClr val="EA580C"/>
            </a:solidFill>
            <a:prstDash val="solid"/>
          </a:ln>
        </p:spPr>
      </p:sp>
      <p:sp>
        <p:nvSpPr>
          <p:cNvPr id="25" name="Text 21"/>
          <p:cNvSpPr txBox="1"/>
          <p:nvPr/>
        </p:nvSpPr>
        <p:spPr>
          <a:xfrm>
            <a:off x="4041648" y="180136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2"/>
          <p:cNvSpPr txBox="1"/>
          <p:nvPr/>
        </p:nvSpPr>
        <p:spPr>
          <a:xfrm>
            <a:off x="4434840" y="1609344"/>
            <a:ext cx="4160520" cy="640080"/>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CONSISTENCY &amp; STANDARDS</a:t>
            </a:r>
            <a:endParaRPr lang="en-US" sz="1150" dirty="0"/>
          </a:p>
          <a:p>
            <a:pPr indent="0" marL="0">
              <a:buNone/>
            </a:pPr>
            <a:r>
              <a:rPr lang="en-US" sz="1100" b="1" dirty="0">
                <a:solidFill>
                  <a:srgbClr val="241C17"/>
                </a:solidFill>
                <a:latin typeface="Calibri" pitchFamily="34" charset="0"/>
                <a:ea typeface="Calibri" pitchFamily="34" charset="-122"/>
                <a:cs typeface="Calibri" pitchFamily="34" charset="-120"/>
              </a:rPr>
              <a:t>vSeva: </a:t>
            </a:r>
            <a:pPr indent="0" marL="0">
              <a:buNone/>
            </a:pPr>
            <a:r>
              <a:rPr lang="en-US" sz="1100" dirty="0">
                <a:solidFill>
                  <a:srgbClr val="241C17"/>
                </a:solidFill>
                <a:latin typeface="Calibri" pitchFamily="34" charset="0"/>
                <a:ea typeface="Calibri" pitchFamily="34" charset="-122"/>
                <a:cs typeface="Calibri" pitchFamily="34" charset="-120"/>
              </a:rPr>
              <a:t>Same cards, type, spacing and nav on every screen</a:t>
            </a:r>
            <a:endParaRPr lang="en-US" sz="1150" dirty="0"/>
          </a:p>
          <a:p>
            <a:pPr indent="0" marL="0">
              <a:buNone/>
            </a:pPr>
            <a:r>
              <a:rPr lang="en-US" sz="1100" b="1" dirty="0">
                <a:solidFill>
                  <a:srgbClr val="15803D"/>
                </a:solidFill>
                <a:latin typeface="Calibri" pitchFamily="34" charset="0"/>
                <a:ea typeface="Calibri" pitchFamily="34" charset="-122"/>
                <a:cs typeface="Calibri" pitchFamily="34" charset="-120"/>
              </a:rPr>
              <a:t>Why: </a:t>
            </a:r>
            <a:pPr indent="0" marL="0">
              <a:buNone/>
            </a:pPr>
            <a:r>
              <a:rPr lang="en-US" sz="1100" dirty="0">
                <a:solidFill>
                  <a:srgbClr val="241C17"/>
                </a:solidFill>
                <a:latin typeface="Calibri" pitchFamily="34" charset="0"/>
                <a:ea typeface="Calibri" pitchFamily="34" charset="-122"/>
                <a:cs typeface="Calibri" pitchFamily="34" charset="-120"/>
              </a:rPr>
              <a:t>Learn once, reuse everywhere.</a:t>
            </a:r>
            <a:endParaRPr lang="en-US" sz="1150" dirty="0"/>
          </a:p>
        </p:txBody>
      </p:sp>
      <p:sp>
        <p:nvSpPr>
          <p:cNvPr id="27" name="Shape 23"/>
          <p:cNvSpPr/>
          <p:nvPr/>
        </p:nvSpPr>
        <p:spPr>
          <a:xfrm>
            <a:off x="3931920" y="2304288"/>
            <a:ext cx="4754880" cy="640080"/>
          </a:xfrm>
          <a:prstGeom prst="roundRect">
            <a:avLst>
              <a:gd name="adj" fmla="val 14286"/>
            </a:avLst>
          </a:prstGeom>
          <a:solidFill>
            <a:srgbClr val="FAF6F0"/>
          </a:solidFill>
          <a:ln w="9525">
            <a:solidFill>
              <a:srgbClr val="EADFD2"/>
            </a:solidFill>
            <a:prstDash val="solid"/>
          </a:ln>
        </p:spPr>
      </p:sp>
      <p:sp>
        <p:nvSpPr>
          <p:cNvPr id="28" name="Shape 24"/>
          <p:cNvSpPr/>
          <p:nvPr/>
        </p:nvSpPr>
        <p:spPr>
          <a:xfrm>
            <a:off x="4041648" y="2496312"/>
            <a:ext cx="256032" cy="256032"/>
          </a:xfrm>
          <a:prstGeom prst="ellipse">
            <a:avLst/>
          </a:prstGeom>
          <a:solidFill>
            <a:srgbClr val="EA580C"/>
          </a:solidFill>
          <a:ln w="6350">
            <a:solidFill>
              <a:srgbClr val="EA580C"/>
            </a:solidFill>
            <a:prstDash val="solid"/>
          </a:ln>
        </p:spPr>
      </p:sp>
      <p:sp>
        <p:nvSpPr>
          <p:cNvPr id="29" name="Text 25"/>
          <p:cNvSpPr txBox="1"/>
          <p:nvPr/>
        </p:nvSpPr>
        <p:spPr>
          <a:xfrm>
            <a:off x="4041648" y="24963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6"/>
          <p:cNvSpPr txBox="1"/>
          <p:nvPr/>
        </p:nvSpPr>
        <p:spPr>
          <a:xfrm>
            <a:off x="4434840" y="2304288"/>
            <a:ext cx="4160520" cy="640080"/>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RECOGNITION OVER RECALL</a:t>
            </a:r>
            <a:endParaRPr lang="en-US" sz="1150" dirty="0"/>
          </a:p>
          <a:p>
            <a:pPr indent="0" marL="0">
              <a:buNone/>
            </a:pPr>
            <a:r>
              <a:rPr lang="en-US" sz="1100" b="1" dirty="0">
                <a:solidFill>
                  <a:srgbClr val="241C17"/>
                </a:solidFill>
                <a:latin typeface="Calibri" pitchFamily="34" charset="0"/>
                <a:ea typeface="Calibri" pitchFamily="34" charset="-122"/>
                <a:cs typeface="Calibri" pitchFamily="34" charset="-120"/>
              </a:rPr>
              <a:t>vSeva: </a:t>
            </a:r>
            <a:pPr indent="0" marL="0">
              <a:buNone/>
            </a:pPr>
            <a:r>
              <a:rPr lang="en-US" sz="1100" dirty="0">
                <a:solidFill>
                  <a:srgbClr val="241C17"/>
                </a:solidFill>
                <a:latin typeface="Calibri" pitchFamily="34" charset="0"/>
                <a:ea typeface="Calibri" pitchFamily="34" charset="-122"/>
                <a:cs typeface="Calibri" pitchFamily="34" charset="-120"/>
              </a:rPr>
              <a:t>Add Vihar button, KPI cards, labelled nav</a:t>
            </a:r>
            <a:endParaRPr lang="en-US" sz="1150" dirty="0"/>
          </a:p>
          <a:p>
            <a:pPr indent="0" marL="0">
              <a:buNone/>
            </a:pPr>
            <a:r>
              <a:rPr lang="en-US" sz="1100" b="1" dirty="0">
                <a:solidFill>
                  <a:srgbClr val="15803D"/>
                </a:solidFill>
                <a:latin typeface="Calibri" pitchFamily="34" charset="0"/>
                <a:ea typeface="Calibri" pitchFamily="34" charset="-122"/>
                <a:cs typeface="Calibri" pitchFamily="34" charset="-120"/>
              </a:rPr>
              <a:t>Why: </a:t>
            </a:r>
            <a:pPr indent="0" marL="0">
              <a:buNone/>
            </a:pPr>
            <a:r>
              <a:rPr lang="en-US" sz="1100" dirty="0">
                <a:solidFill>
                  <a:srgbClr val="241C17"/>
                </a:solidFill>
                <a:latin typeface="Calibri" pitchFamily="34" charset="0"/>
                <a:ea typeface="Calibri" pitchFamily="34" charset="-122"/>
                <a:cs typeface="Calibri" pitchFamily="34" charset="-120"/>
              </a:rPr>
              <a:t>Actions are visible — nothing to memorise.</a:t>
            </a:r>
            <a:endParaRPr lang="en-US" sz="1150" dirty="0"/>
          </a:p>
        </p:txBody>
      </p:sp>
      <p:sp>
        <p:nvSpPr>
          <p:cNvPr id="31" name="Shape 27"/>
          <p:cNvSpPr/>
          <p:nvPr/>
        </p:nvSpPr>
        <p:spPr>
          <a:xfrm>
            <a:off x="3931920" y="2999232"/>
            <a:ext cx="4754880" cy="640080"/>
          </a:xfrm>
          <a:prstGeom prst="roundRect">
            <a:avLst>
              <a:gd name="adj" fmla="val 14286"/>
            </a:avLst>
          </a:prstGeom>
          <a:solidFill>
            <a:srgbClr val="FAF6F0"/>
          </a:solidFill>
          <a:ln w="9525">
            <a:solidFill>
              <a:srgbClr val="EADFD2"/>
            </a:solidFill>
            <a:prstDash val="solid"/>
          </a:ln>
        </p:spPr>
      </p:sp>
      <p:sp>
        <p:nvSpPr>
          <p:cNvPr id="32" name="Shape 28"/>
          <p:cNvSpPr/>
          <p:nvPr/>
        </p:nvSpPr>
        <p:spPr>
          <a:xfrm>
            <a:off x="4041648" y="3191256"/>
            <a:ext cx="256032" cy="256032"/>
          </a:xfrm>
          <a:prstGeom prst="ellipse">
            <a:avLst/>
          </a:prstGeom>
          <a:solidFill>
            <a:srgbClr val="EA580C"/>
          </a:solidFill>
          <a:ln w="6350">
            <a:solidFill>
              <a:srgbClr val="EA580C"/>
            </a:solidFill>
            <a:prstDash val="solid"/>
          </a:ln>
        </p:spPr>
      </p:sp>
      <p:sp>
        <p:nvSpPr>
          <p:cNvPr id="33" name="Text 29"/>
          <p:cNvSpPr txBox="1"/>
          <p:nvPr/>
        </p:nvSpPr>
        <p:spPr>
          <a:xfrm>
            <a:off x="4041648" y="31912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4" name="Text 30"/>
          <p:cNvSpPr txBox="1"/>
          <p:nvPr/>
        </p:nvSpPr>
        <p:spPr>
          <a:xfrm>
            <a:off x="4434840" y="2999232"/>
            <a:ext cx="4160520" cy="640080"/>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VISUAL HIERARCHY</a:t>
            </a:r>
            <a:endParaRPr lang="en-US" sz="1150" dirty="0"/>
          </a:p>
          <a:p>
            <a:pPr indent="0" marL="0">
              <a:buNone/>
            </a:pPr>
            <a:r>
              <a:rPr lang="en-US" sz="1100" b="1" dirty="0">
                <a:solidFill>
                  <a:srgbClr val="241C17"/>
                </a:solidFill>
                <a:latin typeface="Calibri" pitchFamily="34" charset="0"/>
                <a:ea typeface="Calibri" pitchFamily="34" charset="-122"/>
                <a:cs typeface="Calibri" pitchFamily="34" charset="-120"/>
              </a:rPr>
              <a:t>vSeva: </a:t>
            </a:r>
            <a:pPr indent="0" marL="0">
              <a:buNone/>
            </a:pPr>
            <a:r>
              <a:rPr lang="en-US" sz="1100" dirty="0">
                <a:solidFill>
                  <a:srgbClr val="241C17"/>
                </a:solidFill>
                <a:latin typeface="Calibri" pitchFamily="34" charset="0"/>
                <a:ea typeface="Calibri" pitchFamily="34" charset="-122"/>
                <a:cs typeface="Calibri" pitchFamily="34" charset="-120"/>
              </a:rPr>
              <a:t>Big KPIs → supporting info → detailed records</a:t>
            </a:r>
            <a:endParaRPr lang="en-US" sz="1150" dirty="0"/>
          </a:p>
          <a:p>
            <a:pPr indent="0" marL="0">
              <a:buNone/>
            </a:pPr>
            <a:r>
              <a:rPr lang="en-US" sz="1100" b="1" dirty="0">
                <a:solidFill>
                  <a:srgbClr val="15803D"/>
                </a:solidFill>
                <a:latin typeface="Calibri" pitchFamily="34" charset="0"/>
                <a:ea typeface="Calibri" pitchFamily="34" charset="-122"/>
                <a:cs typeface="Calibri" pitchFamily="34" charset="-120"/>
              </a:rPr>
              <a:t>Why: </a:t>
            </a:r>
            <a:pPr indent="0" marL="0">
              <a:buNone/>
            </a:pPr>
            <a:r>
              <a:rPr lang="en-US" sz="1100" dirty="0">
                <a:solidFill>
                  <a:srgbClr val="241C17"/>
                </a:solidFill>
                <a:latin typeface="Calibri" pitchFamily="34" charset="0"/>
                <a:ea typeface="Calibri" pitchFamily="34" charset="-122"/>
                <a:cs typeface="Calibri" pitchFamily="34" charset="-120"/>
              </a:rPr>
              <a:t>Key info first (as in Google Maps).</a:t>
            </a:r>
            <a:endParaRPr lang="en-US" sz="1150" dirty="0"/>
          </a:p>
        </p:txBody>
      </p:sp>
      <p:sp>
        <p:nvSpPr>
          <p:cNvPr id="35" name="Shape 31"/>
          <p:cNvSpPr/>
          <p:nvPr/>
        </p:nvSpPr>
        <p:spPr>
          <a:xfrm>
            <a:off x="3931920" y="3694176"/>
            <a:ext cx="4754880" cy="640080"/>
          </a:xfrm>
          <a:prstGeom prst="roundRect">
            <a:avLst>
              <a:gd name="adj" fmla="val 14286"/>
            </a:avLst>
          </a:prstGeom>
          <a:solidFill>
            <a:srgbClr val="FAF6F0"/>
          </a:solidFill>
          <a:ln w="9525">
            <a:solidFill>
              <a:srgbClr val="EADFD2"/>
            </a:solidFill>
            <a:prstDash val="solid"/>
          </a:ln>
        </p:spPr>
      </p:sp>
      <p:sp>
        <p:nvSpPr>
          <p:cNvPr id="36" name="Shape 32"/>
          <p:cNvSpPr/>
          <p:nvPr/>
        </p:nvSpPr>
        <p:spPr>
          <a:xfrm>
            <a:off x="4041648" y="3886200"/>
            <a:ext cx="256032" cy="256032"/>
          </a:xfrm>
          <a:prstGeom prst="ellipse">
            <a:avLst/>
          </a:prstGeom>
          <a:solidFill>
            <a:srgbClr val="EA580C"/>
          </a:solidFill>
          <a:ln w="6350">
            <a:solidFill>
              <a:srgbClr val="EA580C"/>
            </a:solidFill>
            <a:prstDash val="solid"/>
          </a:ln>
        </p:spPr>
      </p:sp>
      <p:sp>
        <p:nvSpPr>
          <p:cNvPr id="37" name="Text 33"/>
          <p:cNvSpPr txBox="1"/>
          <p:nvPr/>
        </p:nvSpPr>
        <p:spPr>
          <a:xfrm>
            <a:off x="4041648" y="38862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Text 34"/>
          <p:cNvSpPr txBox="1"/>
          <p:nvPr/>
        </p:nvSpPr>
        <p:spPr>
          <a:xfrm>
            <a:off x="4434840" y="3694176"/>
            <a:ext cx="4160520" cy="640080"/>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FAMILIAR PATTERNS</a:t>
            </a:r>
            <a:endParaRPr lang="en-US" sz="1150" dirty="0"/>
          </a:p>
          <a:p>
            <a:pPr indent="0" marL="0">
              <a:buNone/>
            </a:pPr>
            <a:r>
              <a:rPr lang="en-US" sz="1100" b="1" dirty="0">
                <a:solidFill>
                  <a:srgbClr val="241C17"/>
                </a:solidFill>
                <a:latin typeface="Calibri" pitchFamily="34" charset="0"/>
                <a:ea typeface="Calibri" pitchFamily="34" charset="-122"/>
                <a:cs typeface="Calibri" pitchFamily="34" charset="-120"/>
              </a:rPr>
              <a:t>vSeva: </a:t>
            </a:r>
            <a:pPr indent="0" marL="0">
              <a:buNone/>
            </a:pPr>
            <a:r>
              <a:rPr lang="en-US" sz="1100" dirty="0">
                <a:solidFill>
                  <a:srgbClr val="241C17"/>
                </a:solidFill>
                <a:latin typeface="Calibri" pitchFamily="34" charset="0"/>
                <a:ea typeface="Calibri" pitchFamily="34" charset="-122"/>
                <a:cs typeface="Calibri" pitchFamily="34" charset="-120"/>
              </a:rPr>
              <a:t>Bottom nav, cards, badges, bell — like WhatsApp</a:t>
            </a:r>
            <a:endParaRPr lang="en-US" sz="1150" dirty="0"/>
          </a:p>
          <a:p>
            <a:pPr indent="0" marL="0">
              <a:buNone/>
            </a:pPr>
            <a:r>
              <a:rPr lang="en-US" sz="1100" b="1" dirty="0">
                <a:solidFill>
                  <a:srgbClr val="15803D"/>
                </a:solidFill>
                <a:latin typeface="Calibri" pitchFamily="34" charset="0"/>
                <a:ea typeface="Calibri" pitchFamily="34" charset="-122"/>
                <a:cs typeface="Calibri" pitchFamily="34" charset="-120"/>
              </a:rPr>
              <a:t>Why: </a:t>
            </a:r>
            <a:pPr indent="0" marL="0">
              <a:buNone/>
            </a:pPr>
            <a:r>
              <a:rPr lang="en-US" sz="1100" dirty="0">
                <a:solidFill>
                  <a:srgbClr val="241C17"/>
                </a:solidFill>
                <a:latin typeface="Calibri" pitchFamily="34" charset="0"/>
                <a:ea typeface="Calibri" pitchFamily="34" charset="-122"/>
                <a:cs typeface="Calibri" pitchFamily="34" charset="-120"/>
              </a:rPr>
              <a:t>Users already know these patterns.</a:t>
            </a:r>
            <a:endParaRPr lang="en-US" sz="1150" dirty="0"/>
          </a:p>
        </p:txBody>
      </p:sp>
      <p:sp>
        <p:nvSpPr>
          <p:cNvPr id="39" name="Text 35"/>
          <p:cNvSpPr txBox="1"/>
          <p:nvPr/>
        </p:nvSpPr>
        <p:spPr>
          <a:xfrm>
            <a:off x="457200" y="4590288"/>
            <a:ext cx="1737360" cy="274320"/>
          </a:xfrm>
          <a:prstGeom prst="rect">
            <a:avLst/>
          </a:prstGeom>
          <a:noFill/>
          <a:ln/>
        </p:spPr>
        <p:txBody>
          <a:bodyPr wrap="square" lIns="0" tIns="0" rIns="0" bIns="0" rtlCol="0" anchor="ctr"/>
          <a:lstStyle/>
          <a:p>
            <a:pPr indent="0" marL="0">
              <a:buNone/>
            </a:pPr>
            <a:r>
              <a:rPr lang="en-US" sz="1100" b="1" dirty="0">
                <a:solidFill>
                  <a:srgbClr val="241C17"/>
                </a:solidFill>
                <a:latin typeface="Calibri" pitchFamily="34" charset="0"/>
                <a:ea typeface="Calibri" pitchFamily="34" charset="-122"/>
                <a:cs typeface="Calibri" pitchFamily="34" charset="-120"/>
              </a:rPr>
              <a:t>Design principles used</a:t>
            </a:r>
            <a:endParaRPr lang="en-US" sz="1100" dirty="0"/>
          </a:p>
        </p:txBody>
      </p:sp>
      <p:sp>
        <p:nvSpPr>
          <p:cNvPr id="40" name="Shape 36"/>
          <p:cNvSpPr/>
          <p:nvPr/>
        </p:nvSpPr>
        <p:spPr>
          <a:xfrm>
            <a:off x="2286000" y="4590288"/>
            <a:ext cx="1188720" cy="274320"/>
          </a:xfrm>
          <a:prstGeom prst="roundRect">
            <a:avLst>
              <a:gd name="adj" fmla="val 50000"/>
            </a:avLst>
          </a:prstGeom>
          <a:solidFill>
            <a:srgbClr val="FFF3E6"/>
          </a:solidFill>
          <a:ln w="9525">
            <a:solidFill>
              <a:srgbClr val="F8D2AE"/>
            </a:solidFill>
            <a:prstDash val="solid"/>
          </a:ln>
        </p:spPr>
      </p:sp>
      <p:sp>
        <p:nvSpPr>
          <p:cNvPr id="41" name="Text 37"/>
          <p:cNvSpPr txBox="1"/>
          <p:nvPr/>
        </p:nvSpPr>
        <p:spPr>
          <a:xfrm>
            <a:off x="2286000" y="4590288"/>
            <a:ext cx="1188720"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Usability</a:t>
            </a:r>
            <a:endParaRPr lang="en-US" sz="1100" dirty="0"/>
          </a:p>
        </p:txBody>
      </p:sp>
      <p:sp>
        <p:nvSpPr>
          <p:cNvPr id="42" name="Shape 38"/>
          <p:cNvSpPr/>
          <p:nvPr/>
        </p:nvSpPr>
        <p:spPr>
          <a:xfrm>
            <a:off x="3566160" y="4590288"/>
            <a:ext cx="1188720" cy="274320"/>
          </a:xfrm>
          <a:prstGeom prst="roundRect">
            <a:avLst>
              <a:gd name="adj" fmla="val 50000"/>
            </a:avLst>
          </a:prstGeom>
          <a:solidFill>
            <a:srgbClr val="FFF3E6"/>
          </a:solidFill>
          <a:ln w="9525">
            <a:solidFill>
              <a:srgbClr val="F8D2AE"/>
            </a:solidFill>
            <a:prstDash val="solid"/>
          </a:ln>
        </p:spPr>
      </p:sp>
      <p:sp>
        <p:nvSpPr>
          <p:cNvPr id="43" name="Text 39"/>
          <p:cNvSpPr txBox="1"/>
          <p:nvPr/>
        </p:nvSpPr>
        <p:spPr>
          <a:xfrm>
            <a:off x="3566160" y="4590288"/>
            <a:ext cx="1188720"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Consistency</a:t>
            </a:r>
            <a:endParaRPr lang="en-US" sz="1100" dirty="0"/>
          </a:p>
        </p:txBody>
      </p:sp>
      <p:sp>
        <p:nvSpPr>
          <p:cNvPr id="44" name="Shape 40"/>
          <p:cNvSpPr/>
          <p:nvPr/>
        </p:nvSpPr>
        <p:spPr>
          <a:xfrm>
            <a:off x="4846320" y="4590288"/>
            <a:ext cx="1188720" cy="274320"/>
          </a:xfrm>
          <a:prstGeom prst="roundRect">
            <a:avLst>
              <a:gd name="adj" fmla="val 50000"/>
            </a:avLst>
          </a:prstGeom>
          <a:solidFill>
            <a:srgbClr val="FFF3E6"/>
          </a:solidFill>
          <a:ln w="9525">
            <a:solidFill>
              <a:srgbClr val="F8D2AE"/>
            </a:solidFill>
            <a:prstDash val="solid"/>
          </a:ln>
        </p:spPr>
      </p:sp>
      <p:sp>
        <p:nvSpPr>
          <p:cNvPr id="45" name="Text 41"/>
          <p:cNvSpPr txBox="1"/>
          <p:nvPr/>
        </p:nvSpPr>
        <p:spPr>
          <a:xfrm>
            <a:off x="4846320" y="4590288"/>
            <a:ext cx="1188720"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Visibility</a:t>
            </a:r>
            <a:endParaRPr lang="en-US" sz="1100" dirty="0"/>
          </a:p>
        </p:txBody>
      </p:sp>
      <p:sp>
        <p:nvSpPr>
          <p:cNvPr id="46" name="Shape 42"/>
          <p:cNvSpPr/>
          <p:nvPr/>
        </p:nvSpPr>
        <p:spPr>
          <a:xfrm>
            <a:off x="6126480" y="4590288"/>
            <a:ext cx="1188720" cy="274320"/>
          </a:xfrm>
          <a:prstGeom prst="roundRect">
            <a:avLst>
              <a:gd name="adj" fmla="val 50000"/>
            </a:avLst>
          </a:prstGeom>
          <a:solidFill>
            <a:srgbClr val="FFF3E6"/>
          </a:solidFill>
          <a:ln w="9525">
            <a:solidFill>
              <a:srgbClr val="F8D2AE"/>
            </a:solidFill>
            <a:prstDash val="solid"/>
          </a:ln>
        </p:spPr>
      </p:sp>
      <p:sp>
        <p:nvSpPr>
          <p:cNvPr id="47" name="Text 43"/>
          <p:cNvSpPr txBox="1"/>
          <p:nvPr/>
        </p:nvSpPr>
        <p:spPr>
          <a:xfrm>
            <a:off x="6126480" y="4590288"/>
            <a:ext cx="1188720"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Recognition</a:t>
            </a:r>
            <a:endParaRPr lang="en-US" sz="1100" dirty="0"/>
          </a:p>
        </p:txBody>
      </p:sp>
      <p:sp>
        <p:nvSpPr>
          <p:cNvPr id="48" name="Shape 44"/>
          <p:cNvSpPr/>
          <p:nvPr/>
        </p:nvSpPr>
        <p:spPr>
          <a:xfrm>
            <a:off x="7406640" y="4590288"/>
            <a:ext cx="1188720" cy="274320"/>
          </a:xfrm>
          <a:prstGeom prst="roundRect">
            <a:avLst>
              <a:gd name="adj" fmla="val 50000"/>
            </a:avLst>
          </a:prstGeom>
          <a:solidFill>
            <a:srgbClr val="FFF3E6"/>
          </a:solidFill>
          <a:ln w="9525">
            <a:solidFill>
              <a:srgbClr val="F8D2AE"/>
            </a:solidFill>
            <a:prstDash val="solid"/>
          </a:ln>
        </p:spPr>
      </p:sp>
      <p:sp>
        <p:nvSpPr>
          <p:cNvPr id="49" name="Text 45"/>
          <p:cNvSpPr txBox="1"/>
          <p:nvPr/>
        </p:nvSpPr>
        <p:spPr>
          <a:xfrm>
            <a:off x="7406640" y="4590288"/>
            <a:ext cx="1188720"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Calibri" pitchFamily="34" charset="0"/>
                <a:ea typeface="Calibri" pitchFamily="34" charset="-122"/>
                <a:cs typeface="Calibri" pitchFamily="34" charset="-120"/>
              </a:rPr>
              <a:t>Hierarchy</a:t>
            </a:r>
            <a:endParaRPr lang="en-US" sz="11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A8B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241C17"/>
                </a:solidFill>
                <a:latin typeface="Calibri" pitchFamily="34" charset="0"/>
                <a:ea typeface="Calibri" pitchFamily="34" charset="-122"/>
                <a:cs typeface="Calibri" pitchFamily="34" charset="-120"/>
              </a:rPr>
              <a:t>Bad Design — When UI Gets in the User’s Way</a:t>
            </a:r>
            <a:endParaRPr lang="en-US" sz="2800" dirty="0"/>
          </a:p>
        </p:txBody>
      </p:sp>
      <p:sp>
        <p:nvSpPr>
          <p:cNvPr id="3" name="Text 1"/>
          <p:cNvSpPr txBox="1"/>
          <p:nvPr/>
        </p:nvSpPr>
        <p:spPr>
          <a:xfrm>
            <a:off x="457200" y="822960"/>
            <a:ext cx="8229600" cy="228600"/>
          </a:xfrm>
          <a:prstGeom prst="rect">
            <a:avLst/>
          </a:prstGeom>
          <a:noFill/>
          <a:ln/>
        </p:spPr>
        <p:txBody>
          <a:bodyPr wrap="square" lIns="0" tIns="0" rIns="0" bIns="0" rtlCol="0" anchor="ctr"/>
          <a:lstStyle/>
          <a:p>
            <a:pPr indent="0" marL="0">
              <a:buNone/>
            </a:pPr>
            <a:r>
              <a:rPr lang="en-US" sz="1200" i="1" dirty="0">
                <a:solidFill>
                  <a:srgbClr val="6B5B50"/>
                </a:solidFill>
                <a:latin typeface="Calibri" pitchFamily="34" charset="0"/>
                <a:ea typeface="Calibri" pitchFamily="34" charset="-122"/>
                <a:cs typeface="Calibri" pitchFamily="34" charset="-120"/>
              </a:rPr>
              <a:t>Common UI mistakes and how they would hurt a Vihar management app — not a verdict on vSeva.</a:t>
            </a:r>
            <a:endParaRPr lang="en-US" sz="1200" dirty="0"/>
          </a:p>
        </p:txBody>
      </p:sp>
      <p:sp>
        <p:nvSpPr>
          <p:cNvPr id="4" name="Text 2"/>
          <p:cNvSpPr txBox="1"/>
          <p:nvPr/>
        </p:nvSpPr>
        <p:spPr>
          <a:xfrm>
            <a:off x="868680" y="1115568"/>
            <a:ext cx="3154680" cy="182880"/>
          </a:xfrm>
          <a:prstGeom prst="rect">
            <a:avLst/>
          </a:prstGeom>
          <a:noFill/>
          <a:ln/>
        </p:spPr>
        <p:txBody>
          <a:bodyPr wrap="square" lIns="0" tIns="0" rIns="0" bIns="0" rtlCol="0" anchor="ctr"/>
          <a:lstStyle/>
          <a:p>
            <a:pPr indent="0" marL="0">
              <a:buNone/>
            </a:pPr>
            <a:r>
              <a:rPr lang="en-US" sz="1000" b="1" dirty="0">
                <a:solidFill>
                  <a:srgbClr val="9A8B7E"/>
                </a:solidFill>
                <a:latin typeface="Calibri" pitchFamily="34" charset="0"/>
                <a:ea typeface="Calibri" pitchFamily="34" charset="-122"/>
                <a:cs typeface="Calibri" pitchFamily="34" charset="-120"/>
              </a:rPr>
              <a:t>PROBLEM</a:t>
            </a:r>
            <a:endParaRPr lang="en-US" sz="1000" dirty="0"/>
          </a:p>
        </p:txBody>
      </p:sp>
      <p:sp>
        <p:nvSpPr>
          <p:cNvPr id="5" name="Text 3"/>
          <p:cNvSpPr txBox="1"/>
          <p:nvPr/>
        </p:nvSpPr>
        <p:spPr>
          <a:xfrm>
            <a:off x="4160520" y="1115568"/>
            <a:ext cx="2240280" cy="182880"/>
          </a:xfrm>
          <a:prstGeom prst="rect">
            <a:avLst/>
          </a:prstGeom>
          <a:noFill/>
          <a:ln/>
        </p:spPr>
        <p:txBody>
          <a:bodyPr wrap="square" lIns="0" tIns="0" rIns="0" bIns="0" rtlCol="0" anchor="ctr"/>
          <a:lstStyle/>
          <a:p>
            <a:pPr indent="0" marL="0">
              <a:buNone/>
            </a:pPr>
            <a:r>
              <a:rPr lang="en-US" sz="1000" b="1" dirty="0">
                <a:solidFill>
                  <a:srgbClr val="9A8B7E"/>
                </a:solidFill>
                <a:latin typeface="Calibri" pitchFamily="34" charset="0"/>
                <a:ea typeface="Calibri" pitchFamily="34" charset="-122"/>
                <a:cs typeface="Calibri" pitchFamily="34" charset="-120"/>
              </a:rPr>
              <a:t>→  PRINCIPLE VIOLATED</a:t>
            </a:r>
            <a:endParaRPr lang="en-US" sz="1000" dirty="0"/>
          </a:p>
        </p:txBody>
      </p:sp>
      <p:sp>
        <p:nvSpPr>
          <p:cNvPr id="6" name="Text 4"/>
          <p:cNvSpPr txBox="1"/>
          <p:nvPr/>
        </p:nvSpPr>
        <p:spPr>
          <a:xfrm>
            <a:off x="6537960" y="1115568"/>
            <a:ext cx="2103120" cy="182880"/>
          </a:xfrm>
          <a:prstGeom prst="rect">
            <a:avLst/>
          </a:prstGeom>
          <a:noFill/>
          <a:ln/>
        </p:spPr>
        <p:txBody>
          <a:bodyPr wrap="square" lIns="0" tIns="0" rIns="0" bIns="0" rtlCol="0" anchor="ctr"/>
          <a:lstStyle/>
          <a:p>
            <a:pPr indent="0" marL="0">
              <a:buNone/>
            </a:pPr>
            <a:r>
              <a:rPr lang="en-US" sz="1000" b="1" dirty="0">
                <a:solidFill>
                  <a:srgbClr val="9A8B7E"/>
                </a:solidFill>
                <a:latin typeface="Calibri" pitchFamily="34" charset="0"/>
                <a:ea typeface="Calibri" pitchFamily="34" charset="-122"/>
                <a:cs typeface="Calibri" pitchFamily="34" charset="-120"/>
              </a:rPr>
              <a:t>→  USER IMPACT</a:t>
            </a:r>
            <a:endParaRPr lang="en-US" sz="1000" dirty="0"/>
          </a:p>
        </p:txBody>
      </p:sp>
      <p:sp>
        <p:nvSpPr>
          <p:cNvPr id="7" name="Shape 5"/>
          <p:cNvSpPr/>
          <p:nvPr/>
        </p:nvSpPr>
        <p:spPr>
          <a:xfrm>
            <a:off x="457200" y="1325880"/>
            <a:ext cx="8229600" cy="475488"/>
          </a:xfrm>
          <a:prstGeom prst="roundRect">
            <a:avLst>
              <a:gd name="adj" fmla="val 19231"/>
            </a:avLst>
          </a:prstGeom>
          <a:solidFill>
            <a:srgbClr val="FAF6F0"/>
          </a:solidFill>
          <a:ln w="9525">
            <a:solidFill>
              <a:srgbClr val="EADFD2"/>
            </a:solidFill>
            <a:prstDash val="solid"/>
          </a:ln>
        </p:spPr>
      </p:sp>
      <p:sp>
        <p:nvSpPr>
          <p:cNvPr id="8" name="Shape 6"/>
          <p:cNvSpPr/>
          <p:nvPr/>
        </p:nvSpPr>
        <p:spPr>
          <a:xfrm>
            <a:off x="548640" y="1435608"/>
            <a:ext cx="256032" cy="256032"/>
          </a:xfrm>
          <a:prstGeom prst="ellipse">
            <a:avLst/>
          </a:prstGeom>
          <a:solidFill>
            <a:srgbClr val="B91C1C"/>
          </a:solidFill>
          <a:ln w="6350">
            <a:solidFill>
              <a:srgbClr val="B91C1C"/>
            </a:solidFill>
            <a:prstDash val="solid"/>
          </a:ln>
        </p:spPr>
      </p:sp>
      <p:sp>
        <p:nvSpPr>
          <p:cNvPr id="9" name="Text 7"/>
          <p:cNvSpPr txBox="1"/>
          <p:nvPr/>
        </p:nvSpPr>
        <p:spPr>
          <a:xfrm>
            <a:off x="548640" y="14356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868680" y="1325880"/>
            <a:ext cx="3154680" cy="475488"/>
          </a:xfrm>
          <a:prstGeom prst="rect">
            <a:avLst/>
          </a:prstGeom>
          <a:noFill/>
          <a:ln/>
        </p:spPr>
        <p:txBody>
          <a:bodyPr wrap="square" lIns="0" tIns="0" rIns="0" bIns="0" rtlCol="0" anchor="ctr"/>
          <a:lstStyle/>
          <a:p>
            <a:pPr indent="0" marL="0">
              <a:buNone/>
            </a:pPr>
            <a:r>
              <a:rPr lang="en-US" sz="1150" b="1" dirty="0">
                <a:solidFill>
                  <a:srgbClr val="241C17"/>
                </a:solidFill>
                <a:latin typeface="Calibri" pitchFamily="34" charset="0"/>
                <a:ea typeface="Calibri" pitchFamily="34" charset="-122"/>
                <a:cs typeface="Calibri" pitchFamily="34" charset="-120"/>
              </a:rPr>
              <a:t>TOO MUCH INFORMATION</a:t>
            </a:r>
            <a:endParaRPr lang="en-US" sz="1150" dirty="0"/>
          </a:p>
          <a:p>
            <a:pPr indent="0" marL="0">
              <a:buNone/>
            </a:pPr>
            <a:r>
              <a:rPr lang="en-US" sz="1100" dirty="0">
                <a:solidFill>
                  <a:srgbClr val="6B5B50"/>
                </a:solidFill>
                <a:latin typeface="Calibri" pitchFamily="34" charset="0"/>
                <a:ea typeface="Calibri" pitchFamily="34" charset="-122"/>
                <a:cs typeface="Calibri" pitchFamily="34" charset="-120"/>
              </a:rPr>
              <a:t>Every stat and setting on the first screen</a:t>
            </a:r>
            <a:endParaRPr lang="en-US" sz="1150" dirty="0"/>
          </a:p>
        </p:txBody>
      </p:sp>
      <p:sp>
        <p:nvSpPr>
          <p:cNvPr id="11" name="Shape 9"/>
          <p:cNvSpPr/>
          <p:nvPr/>
        </p:nvSpPr>
        <p:spPr>
          <a:xfrm>
            <a:off x="4160520" y="1435608"/>
            <a:ext cx="2240280" cy="256032"/>
          </a:xfrm>
          <a:prstGeom prst="roundRect">
            <a:avLst>
              <a:gd name="adj" fmla="val 50000"/>
            </a:avLst>
          </a:prstGeom>
          <a:solidFill>
            <a:srgbClr val="FDECEC"/>
          </a:solidFill>
          <a:ln w="6350">
            <a:solidFill>
              <a:srgbClr val="F5C2C2"/>
            </a:solidFill>
            <a:prstDash val="solid"/>
          </a:ln>
        </p:spPr>
      </p:sp>
      <p:sp>
        <p:nvSpPr>
          <p:cNvPr id="12" name="Text 10"/>
          <p:cNvSpPr txBox="1"/>
          <p:nvPr/>
        </p:nvSpPr>
        <p:spPr>
          <a:xfrm>
            <a:off x="4160520" y="1435608"/>
            <a:ext cx="2240280" cy="256032"/>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Visual hierarchy · Hick’s Law</a:t>
            </a:r>
            <a:endParaRPr lang="en-US" sz="1050" dirty="0"/>
          </a:p>
        </p:txBody>
      </p:sp>
      <p:sp>
        <p:nvSpPr>
          <p:cNvPr id="13" name="Text 11"/>
          <p:cNvSpPr txBox="1"/>
          <p:nvPr/>
        </p:nvSpPr>
        <p:spPr>
          <a:xfrm>
            <a:off x="6537960" y="1325880"/>
            <a:ext cx="2103120" cy="475488"/>
          </a:xfrm>
          <a:prstGeom prst="rect">
            <a:avLst/>
          </a:prstGeom>
          <a:noFill/>
          <a:ln/>
        </p:spPr>
        <p:txBody>
          <a:bodyPr wrap="square" lIns="0" tIns="0" rIns="0" bIns="0" rtlCol="0" anchor="ctr"/>
          <a:lstStyle/>
          <a:p>
            <a:pPr indent="0" marL="0">
              <a:buNone/>
            </a:pPr>
            <a:r>
              <a:rPr lang="en-US" sz="1100" dirty="0">
                <a:solidFill>
                  <a:srgbClr val="241C17"/>
                </a:solidFill>
                <a:latin typeface="Calibri" pitchFamily="34" charset="0"/>
                <a:ea typeface="Calibri" pitchFamily="34" charset="-122"/>
                <a:cs typeface="Calibri" pitchFamily="34" charset="-120"/>
              </a:rPr>
              <a:t>Users take longer to decide</a:t>
            </a:r>
            <a:endParaRPr lang="en-US" sz="1100" dirty="0"/>
          </a:p>
        </p:txBody>
      </p:sp>
      <p:sp>
        <p:nvSpPr>
          <p:cNvPr id="14" name="Shape 12"/>
          <p:cNvSpPr/>
          <p:nvPr/>
        </p:nvSpPr>
        <p:spPr>
          <a:xfrm>
            <a:off x="457200" y="1865376"/>
            <a:ext cx="8229600" cy="475488"/>
          </a:xfrm>
          <a:prstGeom prst="roundRect">
            <a:avLst>
              <a:gd name="adj" fmla="val 19231"/>
            </a:avLst>
          </a:prstGeom>
          <a:solidFill>
            <a:srgbClr val="FAF6F0"/>
          </a:solidFill>
          <a:ln w="9525">
            <a:solidFill>
              <a:srgbClr val="EADFD2"/>
            </a:solidFill>
            <a:prstDash val="solid"/>
          </a:ln>
        </p:spPr>
      </p:sp>
      <p:sp>
        <p:nvSpPr>
          <p:cNvPr id="15" name="Shape 13"/>
          <p:cNvSpPr/>
          <p:nvPr/>
        </p:nvSpPr>
        <p:spPr>
          <a:xfrm>
            <a:off x="548640" y="1975104"/>
            <a:ext cx="256032" cy="256032"/>
          </a:xfrm>
          <a:prstGeom prst="ellipse">
            <a:avLst/>
          </a:prstGeom>
          <a:solidFill>
            <a:srgbClr val="B91C1C"/>
          </a:solidFill>
          <a:ln w="6350">
            <a:solidFill>
              <a:srgbClr val="B91C1C"/>
            </a:solidFill>
            <a:prstDash val="solid"/>
          </a:ln>
        </p:spPr>
      </p:sp>
      <p:sp>
        <p:nvSpPr>
          <p:cNvPr id="16" name="Text 14"/>
          <p:cNvSpPr txBox="1"/>
          <p:nvPr/>
        </p:nvSpPr>
        <p:spPr>
          <a:xfrm>
            <a:off x="548640" y="19751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txBox="1"/>
          <p:nvPr/>
        </p:nvSpPr>
        <p:spPr>
          <a:xfrm>
            <a:off x="868680" y="1865376"/>
            <a:ext cx="3154680" cy="475488"/>
          </a:xfrm>
          <a:prstGeom prst="rect">
            <a:avLst/>
          </a:prstGeom>
          <a:noFill/>
          <a:ln/>
        </p:spPr>
        <p:txBody>
          <a:bodyPr wrap="square" lIns="0" tIns="0" rIns="0" bIns="0" rtlCol="0" anchor="ctr"/>
          <a:lstStyle/>
          <a:p>
            <a:pPr indent="0" marL="0">
              <a:buNone/>
            </a:pPr>
            <a:r>
              <a:rPr lang="en-US" sz="1150" b="1" dirty="0">
                <a:solidFill>
                  <a:srgbClr val="241C17"/>
                </a:solidFill>
                <a:latin typeface="Calibri" pitchFamily="34" charset="0"/>
                <a:ea typeface="Calibri" pitchFamily="34" charset="-122"/>
                <a:cs typeface="Calibri" pitchFamily="34" charset="-120"/>
              </a:rPr>
              <a:t>INCONSISTENT UI</a:t>
            </a:r>
            <a:endParaRPr lang="en-US" sz="1150" dirty="0"/>
          </a:p>
          <a:p>
            <a:pPr indent="0" marL="0">
              <a:buNone/>
            </a:pPr>
            <a:r>
              <a:rPr lang="en-US" sz="1100" dirty="0">
                <a:solidFill>
                  <a:srgbClr val="6B5B50"/>
                </a:solidFill>
                <a:latin typeface="Calibri" pitchFamily="34" charset="0"/>
                <a:ea typeface="Calibri" pitchFamily="34" charset="-122"/>
                <a:cs typeface="Calibri" pitchFamily="34" charset="-120"/>
              </a:rPr>
              <a:t>Different buttons for similar actions</a:t>
            </a:r>
            <a:endParaRPr lang="en-US" sz="1150" dirty="0"/>
          </a:p>
        </p:txBody>
      </p:sp>
      <p:sp>
        <p:nvSpPr>
          <p:cNvPr id="18" name="Shape 16"/>
          <p:cNvSpPr/>
          <p:nvPr/>
        </p:nvSpPr>
        <p:spPr>
          <a:xfrm>
            <a:off x="4160520" y="1975104"/>
            <a:ext cx="2240280" cy="256032"/>
          </a:xfrm>
          <a:prstGeom prst="roundRect">
            <a:avLst>
              <a:gd name="adj" fmla="val 50000"/>
            </a:avLst>
          </a:prstGeom>
          <a:solidFill>
            <a:srgbClr val="FDECEC"/>
          </a:solidFill>
          <a:ln w="6350">
            <a:solidFill>
              <a:srgbClr val="F5C2C2"/>
            </a:solidFill>
            <a:prstDash val="solid"/>
          </a:ln>
        </p:spPr>
      </p:sp>
      <p:sp>
        <p:nvSpPr>
          <p:cNvPr id="19" name="Text 17"/>
          <p:cNvSpPr txBox="1"/>
          <p:nvPr/>
        </p:nvSpPr>
        <p:spPr>
          <a:xfrm>
            <a:off x="4160520" y="1975104"/>
            <a:ext cx="2240280" cy="256032"/>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Consistency &amp; standards</a:t>
            </a:r>
            <a:endParaRPr lang="en-US" sz="1050" dirty="0"/>
          </a:p>
        </p:txBody>
      </p:sp>
      <p:sp>
        <p:nvSpPr>
          <p:cNvPr id="20" name="Text 18"/>
          <p:cNvSpPr txBox="1"/>
          <p:nvPr/>
        </p:nvSpPr>
        <p:spPr>
          <a:xfrm>
            <a:off x="6537960" y="1865376"/>
            <a:ext cx="2103120" cy="475488"/>
          </a:xfrm>
          <a:prstGeom prst="rect">
            <a:avLst/>
          </a:prstGeom>
          <a:noFill/>
          <a:ln/>
        </p:spPr>
        <p:txBody>
          <a:bodyPr wrap="square" lIns="0" tIns="0" rIns="0" bIns="0" rtlCol="0" anchor="ctr"/>
          <a:lstStyle/>
          <a:p>
            <a:pPr indent="0" marL="0">
              <a:buNone/>
            </a:pPr>
            <a:r>
              <a:rPr lang="en-US" sz="1100" dirty="0">
                <a:solidFill>
                  <a:srgbClr val="241C17"/>
                </a:solidFill>
                <a:latin typeface="Calibri" pitchFamily="34" charset="0"/>
                <a:ea typeface="Calibri" pitchFamily="34" charset="-122"/>
                <a:cs typeface="Calibri" pitchFamily="34" charset="-120"/>
              </a:rPr>
              <a:t>Users unsure what will happen</a:t>
            </a:r>
            <a:endParaRPr lang="en-US" sz="1100" dirty="0"/>
          </a:p>
        </p:txBody>
      </p:sp>
      <p:sp>
        <p:nvSpPr>
          <p:cNvPr id="21" name="Shape 19"/>
          <p:cNvSpPr/>
          <p:nvPr/>
        </p:nvSpPr>
        <p:spPr>
          <a:xfrm>
            <a:off x="457200" y="2404872"/>
            <a:ext cx="8229600" cy="475488"/>
          </a:xfrm>
          <a:prstGeom prst="roundRect">
            <a:avLst>
              <a:gd name="adj" fmla="val 19231"/>
            </a:avLst>
          </a:prstGeom>
          <a:solidFill>
            <a:srgbClr val="FAF6F0"/>
          </a:solidFill>
          <a:ln w="9525">
            <a:solidFill>
              <a:srgbClr val="EADFD2"/>
            </a:solidFill>
            <a:prstDash val="solid"/>
          </a:ln>
        </p:spPr>
      </p:sp>
      <p:sp>
        <p:nvSpPr>
          <p:cNvPr id="22" name="Shape 20"/>
          <p:cNvSpPr/>
          <p:nvPr/>
        </p:nvSpPr>
        <p:spPr>
          <a:xfrm>
            <a:off x="548640" y="2514600"/>
            <a:ext cx="256032" cy="256032"/>
          </a:xfrm>
          <a:prstGeom prst="ellipse">
            <a:avLst/>
          </a:prstGeom>
          <a:solidFill>
            <a:srgbClr val="B91C1C"/>
          </a:solidFill>
          <a:ln w="6350">
            <a:solidFill>
              <a:srgbClr val="B91C1C"/>
            </a:solidFill>
            <a:prstDash val="solid"/>
          </a:ln>
        </p:spPr>
      </p:sp>
      <p:sp>
        <p:nvSpPr>
          <p:cNvPr id="23" name="Text 21"/>
          <p:cNvSpPr txBox="1"/>
          <p:nvPr/>
        </p:nvSpPr>
        <p:spPr>
          <a:xfrm>
            <a:off x="548640" y="25146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txBox="1"/>
          <p:nvPr/>
        </p:nvSpPr>
        <p:spPr>
          <a:xfrm>
            <a:off x="868680" y="2404872"/>
            <a:ext cx="3154680" cy="475488"/>
          </a:xfrm>
          <a:prstGeom prst="rect">
            <a:avLst/>
          </a:prstGeom>
          <a:noFill/>
          <a:ln/>
        </p:spPr>
        <p:txBody>
          <a:bodyPr wrap="square" lIns="0" tIns="0" rIns="0" bIns="0" rtlCol="0" anchor="ctr"/>
          <a:lstStyle/>
          <a:p>
            <a:pPr indent="0" marL="0">
              <a:buNone/>
            </a:pPr>
            <a:r>
              <a:rPr lang="en-US" sz="1150" b="1" dirty="0">
                <a:solidFill>
                  <a:srgbClr val="241C17"/>
                </a:solidFill>
                <a:latin typeface="Calibri" pitchFamily="34" charset="0"/>
                <a:ea typeface="Calibri" pitchFamily="34" charset="-122"/>
                <a:cs typeface="Calibri" pitchFamily="34" charset="-120"/>
              </a:rPr>
              <a:t>HIDDEN SYSTEM STATUS</a:t>
            </a:r>
            <a:endParaRPr lang="en-US" sz="1150" dirty="0"/>
          </a:p>
          <a:p>
            <a:pPr indent="0" marL="0">
              <a:buNone/>
            </a:pPr>
            <a:r>
              <a:rPr lang="en-US" sz="1100" dirty="0">
                <a:solidFill>
                  <a:srgbClr val="6B5B50"/>
                </a:solidFill>
                <a:latin typeface="Calibri" pitchFamily="34" charset="0"/>
                <a:ea typeface="Calibri" pitchFamily="34" charset="-122"/>
                <a:cs typeface="Calibri" pitchFamily="34" charset="-120"/>
              </a:rPr>
              <a:t>Vihar submitted, no clear confirmation</a:t>
            </a:r>
            <a:endParaRPr lang="en-US" sz="1150" dirty="0"/>
          </a:p>
        </p:txBody>
      </p:sp>
      <p:sp>
        <p:nvSpPr>
          <p:cNvPr id="25" name="Shape 23"/>
          <p:cNvSpPr/>
          <p:nvPr/>
        </p:nvSpPr>
        <p:spPr>
          <a:xfrm>
            <a:off x="4160520" y="2514600"/>
            <a:ext cx="2240280" cy="256032"/>
          </a:xfrm>
          <a:prstGeom prst="roundRect">
            <a:avLst>
              <a:gd name="adj" fmla="val 50000"/>
            </a:avLst>
          </a:prstGeom>
          <a:solidFill>
            <a:srgbClr val="FDECEC"/>
          </a:solidFill>
          <a:ln w="6350">
            <a:solidFill>
              <a:srgbClr val="F5C2C2"/>
            </a:solidFill>
            <a:prstDash val="solid"/>
          </a:ln>
        </p:spPr>
      </p:sp>
      <p:sp>
        <p:nvSpPr>
          <p:cNvPr id="26" name="Text 24"/>
          <p:cNvSpPr txBox="1"/>
          <p:nvPr/>
        </p:nvSpPr>
        <p:spPr>
          <a:xfrm>
            <a:off x="4160520" y="2514600"/>
            <a:ext cx="2240280" cy="256032"/>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Visibility of system status</a:t>
            </a:r>
            <a:endParaRPr lang="en-US" sz="1050" dirty="0"/>
          </a:p>
        </p:txBody>
      </p:sp>
      <p:sp>
        <p:nvSpPr>
          <p:cNvPr id="27" name="Text 25"/>
          <p:cNvSpPr txBox="1"/>
          <p:nvPr/>
        </p:nvSpPr>
        <p:spPr>
          <a:xfrm>
            <a:off x="6537960" y="2404872"/>
            <a:ext cx="2103120" cy="475488"/>
          </a:xfrm>
          <a:prstGeom prst="rect">
            <a:avLst/>
          </a:prstGeom>
          <a:noFill/>
          <a:ln/>
        </p:spPr>
        <p:txBody>
          <a:bodyPr wrap="square" lIns="0" tIns="0" rIns="0" bIns="0" rtlCol="0" anchor="ctr"/>
          <a:lstStyle/>
          <a:p>
            <a:pPr indent="0" marL="0">
              <a:buNone/>
            </a:pPr>
            <a:r>
              <a:rPr lang="en-US" sz="1100" dirty="0">
                <a:solidFill>
                  <a:srgbClr val="241C17"/>
                </a:solidFill>
                <a:latin typeface="Calibri" pitchFamily="34" charset="0"/>
                <a:ea typeface="Calibri" pitchFamily="34" charset="-122"/>
                <a:cs typeface="Calibri" pitchFamily="34" charset="-120"/>
              </a:rPr>
              <a:t>User can’t tell if it worked</a:t>
            </a:r>
            <a:endParaRPr lang="en-US" sz="1100" dirty="0"/>
          </a:p>
        </p:txBody>
      </p:sp>
      <p:sp>
        <p:nvSpPr>
          <p:cNvPr id="28" name="Shape 26"/>
          <p:cNvSpPr/>
          <p:nvPr/>
        </p:nvSpPr>
        <p:spPr>
          <a:xfrm>
            <a:off x="457200" y="2944368"/>
            <a:ext cx="8229600" cy="475488"/>
          </a:xfrm>
          <a:prstGeom prst="roundRect">
            <a:avLst>
              <a:gd name="adj" fmla="val 19231"/>
            </a:avLst>
          </a:prstGeom>
          <a:solidFill>
            <a:srgbClr val="FAF6F0"/>
          </a:solidFill>
          <a:ln w="9525">
            <a:solidFill>
              <a:srgbClr val="EADFD2"/>
            </a:solidFill>
            <a:prstDash val="solid"/>
          </a:ln>
        </p:spPr>
      </p:sp>
      <p:sp>
        <p:nvSpPr>
          <p:cNvPr id="29" name="Shape 27"/>
          <p:cNvSpPr/>
          <p:nvPr/>
        </p:nvSpPr>
        <p:spPr>
          <a:xfrm>
            <a:off x="548640" y="3054096"/>
            <a:ext cx="256032" cy="256032"/>
          </a:xfrm>
          <a:prstGeom prst="ellipse">
            <a:avLst/>
          </a:prstGeom>
          <a:solidFill>
            <a:srgbClr val="B91C1C"/>
          </a:solidFill>
          <a:ln w="6350">
            <a:solidFill>
              <a:srgbClr val="B91C1C"/>
            </a:solidFill>
            <a:prstDash val="solid"/>
          </a:ln>
        </p:spPr>
      </p:sp>
      <p:sp>
        <p:nvSpPr>
          <p:cNvPr id="30" name="Text 28"/>
          <p:cNvSpPr txBox="1"/>
          <p:nvPr/>
        </p:nvSpPr>
        <p:spPr>
          <a:xfrm>
            <a:off x="548640" y="30540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txBox="1"/>
          <p:nvPr/>
        </p:nvSpPr>
        <p:spPr>
          <a:xfrm>
            <a:off x="868680" y="2944368"/>
            <a:ext cx="3154680" cy="475488"/>
          </a:xfrm>
          <a:prstGeom prst="rect">
            <a:avLst/>
          </a:prstGeom>
          <a:noFill/>
          <a:ln/>
        </p:spPr>
        <p:txBody>
          <a:bodyPr wrap="square" lIns="0" tIns="0" rIns="0" bIns="0" rtlCol="0" anchor="ctr"/>
          <a:lstStyle/>
          <a:p>
            <a:pPr indent="0" marL="0">
              <a:buNone/>
            </a:pPr>
            <a:r>
              <a:rPr lang="en-US" sz="1150" b="1" dirty="0">
                <a:solidFill>
                  <a:srgbClr val="241C17"/>
                </a:solidFill>
                <a:latin typeface="Calibri" pitchFamily="34" charset="0"/>
                <a:ea typeface="Calibri" pitchFamily="34" charset="-122"/>
                <a:cs typeface="Calibri" pitchFamily="34" charset="-120"/>
              </a:rPr>
              <a:t>POOR MOBILE LAYOUT</a:t>
            </a:r>
            <a:endParaRPr lang="en-US" sz="1150" dirty="0"/>
          </a:p>
          <a:p>
            <a:pPr indent="0" marL="0">
              <a:buNone/>
            </a:pPr>
            <a:r>
              <a:rPr lang="en-US" sz="1100" dirty="0">
                <a:solidFill>
                  <a:srgbClr val="6B5B50"/>
                </a:solidFill>
                <a:latin typeface="Calibri" pitchFamily="34" charset="0"/>
                <a:ea typeface="Calibri" pitchFamily="34" charset="-122"/>
                <a:cs typeface="Calibri" pitchFamily="34" charset="-120"/>
              </a:rPr>
              <a:t>Tiny, crowded buttons; content overflow</a:t>
            </a:r>
            <a:endParaRPr lang="en-US" sz="1150" dirty="0"/>
          </a:p>
        </p:txBody>
      </p:sp>
      <p:sp>
        <p:nvSpPr>
          <p:cNvPr id="32" name="Shape 30"/>
          <p:cNvSpPr/>
          <p:nvPr/>
        </p:nvSpPr>
        <p:spPr>
          <a:xfrm>
            <a:off x="4160520" y="3054096"/>
            <a:ext cx="2240280" cy="256032"/>
          </a:xfrm>
          <a:prstGeom prst="roundRect">
            <a:avLst>
              <a:gd name="adj" fmla="val 50000"/>
            </a:avLst>
          </a:prstGeom>
          <a:solidFill>
            <a:srgbClr val="FDECEC"/>
          </a:solidFill>
          <a:ln w="6350">
            <a:solidFill>
              <a:srgbClr val="F5C2C2"/>
            </a:solidFill>
            <a:prstDash val="solid"/>
          </a:ln>
        </p:spPr>
      </p:sp>
      <p:sp>
        <p:nvSpPr>
          <p:cNvPr id="33" name="Text 31"/>
          <p:cNvSpPr txBox="1"/>
          <p:nvPr/>
        </p:nvSpPr>
        <p:spPr>
          <a:xfrm>
            <a:off x="4160520" y="3054096"/>
            <a:ext cx="2240280" cy="256032"/>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Fitts’s Law · Responsive design</a:t>
            </a:r>
            <a:endParaRPr lang="en-US" sz="1050" dirty="0"/>
          </a:p>
        </p:txBody>
      </p:sp>
      <p:sp>
        <p:nvSpPr>
          <p:cNvPr id="34" name="Text 32"/>
          <p:cNvSpPr txBox="1"/>
          <p:nvPr/>
        </p:nvSpPr>
        <p:spPr>
          <a:xfrm>
            <a:off x="6537960" y="2944368"/>
            <a:ext cx="2103120" cy="475488"/>
          </a:xfrm>
          <a:prstGeom prst="rect">
            <a:avLst/>
          </a:prstGeom>
          <a:noFill/>
          <a:ln/>
        </p:spPr>
        <p:txBody>
          <a:bodyPr wrap="square" lIns="0" tIns="0" rIns="0" bIns="0" rtlCol="0" anchor="ctr"/>
          <a:lstStyle/>
          <a:p>
            <a:pPr indent="0" marL="0">
              <a:buNone/>
            </a:pPr>
            <a:r>
              <a:rPr lang="en-US" sz="1100" dirty="0">
                <a:solidFill>
                  <a:srgbClr val="241C17"/>
                </a:solidFill>
                <a:latin typeface="Calibri" pitchFamily="34" charset="0"/>
                <a:ea typeface="Calibri" pitchFamily="34" charset="-122"/>
                <a:cs typeface="Calibri" pitchFamily="34" charset="-120"/>
              </a:rPr>
              <a:t>Accidental taps, hard to use</a:t>
            </a:r>
            <a:endParaRPr lang="en-US" sz="1100" dirty="0"/>
          </a:p>
        </p:txBody>
      </p:sp>
      <p:sp>
        <p:nvSpPr>
          <p:cNvPr id="35" name="Shape 33"/>
          <p:cNvSpPr/>
          <p:nvPr/>
        </p:nvSpPr>
        <p:spPr>
          <a:xfrm>
            <a:off x="457200" y="3483864"/>
            <a:ext cx="8229600" cy="475488"/>
          </a:xfrm>
          <a:prstGeom prst="roundRect">
            <a:avLst>
              <a:gd name="adj" fmla="val 19231"/>
            </a:avLst>
          </a:prstGeom>
          <a:solidFill>
            <a:srgbClr val="FAF6F0"/>
          </a:solidFill>
          <a:ln w="9525">
            <a:solidFill>
              <a:srgbClr val="EADFD2"/>
            </a:solidFill>
            <a:prstDash val="solid"/>
          </a:ln>
        </p:spPr>
      </p:sp>
      <p:sp>
        <p:nvSpPr>
          <p:cNvPr id="36" name="Shape 34"/>
          <p:cNvSpPr/>
          <p:nvPr/>
        </p:nvSpPr>
        <p:spPr>
          <a:xfrm>
            <a:off x="548640" y="3593592"/>
            <a:ext cx="256032" cy="256032"/>
          </a:xfrm>
          <a:prstGeom prst="ellipse">
            <a:avLst/>
          </a:prstGeom>
          <a:solidFill>
            <a:srgbClr val="B91C1C"/>
          </a:solidFill>
          <a:ln w="6350">
            <a:solidFill>
              <a:srgbClr val="B91C1C"/>
            </a:solidFill>
            <a:prstDash val="solid"/>
          </a:ln>
        </p:spPr>
      </p:sp>
      <p:sp>
        <p:nvSpPr>
          <p:cNvPr id="37" name="Text 35"/>
          <p:cNvSpPr txBox="1"/>
          <p:nvPr/>
        </p:nvSpPr>
        <p:spPr>
          <a:xfrm>
            <a:off x="548640" y="359359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Text 36"/>
          <p:cNvSpPr txBox="1"/>
          <p:nvPr/>
        </p:nvSpPr>
        <p:spPr>
          <a:xfrm>
            <a:off x="868680" y="3483864"/>
            <a:ext cx="3154680" cy="475488"/>
          </a:xfrm>
          <a:prstGeom prst="rect">
            <a:avLst/>
          </a:prstGeom>
          <a:noFill/>
          <a:ln/>
        </p:spPr>
        <p:txBody>
          <a:bodyPr wrap="square" lIns="0" tIns="0" rIns="0" bIns="0" rtlCol="0" anchor="ctr"/>
          <a:lstStyle/>
          <a:p>
            <a:pPr indent="0" marL="0">
              <a:buNone/>
            </a:pPr>
            <a:r>
              <a:rPr lang="en-US" sz="1150" b="1" dirty="0">
                <a:solidFill>
                  <a:srgbClr val="241C17"/>
                </a:solidFill>
                <a:latin typeface="Calibri" pitchFamily="34" charset="0"/>
                <a:ea typeface="Calibri" pitchFamily="34" charset="-122"/>
                <a:cs typeface="Calibri" pitchFamily="34" charset="-120"/>
              </a:rPr>
              <a:t>UNNECESSARY COMPLEXITY</a:t>
            </a:r>
            <a:endParaRPr lang="en-US" sz="1150" dirty="0"/>
          </a:p>
          <a:p>
            <a:pPr indent="0" marL="0">
              <a:buNone/>
            </a:pPr>
            <a:r>
              <a:rPr lang="en-US" sz="1100" dirty="0">
                <a:solidFill>
                  <a:srgbClr val="6B5B50"/>
                </a:solidFill>
                <a:latin typeface="Calibri" pitchFamily="34" charset="0"/>
                <a:ea typeface="Calibri" pitchFamily="34" charset="-122"/>
                <a:cs typeface="Calibri" pitchFamily="34" charset="-120"/>
              </a:rPr>
              <a:t>Too many steps for a simple task</a:t>
            </a:r>
            <a:endParaRPr lang="en-US" sz="1150" dirty="0"/>
          </a:p>
        </p:txBody>
      </p:sp>
      <p:sp>
        <p:nvSpPr>
          <p:cNvPr id="39" name="Shape 37"/>
          <p:cNvSpPr/>
          <p:nvPr/>
        </p:nvSpPr>
        <p:spPr>
          <a:xfrm>
            <a:off x="4160520" y="3593592"/>
            <a:ext cx="2240280" cy="256032"/>
          </a:xfrm>
          <a:prstGeom prst="roundRect">
            <a:avLst>
              <a:gd name="adj" fmla="val 50000"/>
            </a:avLst>
          </a:prstGeom>
          <a:solidFill>
            <a:srgbClr val="FDECEC"/>
          </a:solidFill>
          <a:ln w="6350">
            <a:solidFill>
              <a:srgbClr val="F5C2C2"/>
            </a:solidFill>
            <a:prstDash val="solid"/>
          </a:ln>
        </p:spPr>
      </p:sp>
      <p:sp>
        <p:nvSpPr>
          <p:cNvPr id="40" name="Text 38"/>
          <p:cNvSpPr txBox="1"/>
          <p:nvPr/>
        </p:nvSpPr>
        <p:spPr>
          <a:xfrm>
            <a:off x="4160520" y="3593592"/>
            <a:ext cx="2240280" cy="256032"/>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Efficiency of use</a:t>
            </a:r>
            <a:endParaRPr lang="en-US" sz="1050" dirty="0"/>
          </a:p>
        </p:txBody>
      </p:sp>
      <p:sp>
        <p:nvSpPr>
          <p:cNvPr id="41" name="Text 39"/>
          <p:cNvSpPr txBox="1"/>
          <p:nvPr/>
        </p:nvSpPr>
        <p:spPr>
          <a:xfrm>
            <a:off x="6537960" y="3483864"/>
            <a:ext cx="2103120" cy="475488"/>
          </a:xfrm>
          <a:prstGeom prst="rect">
            <a:avLst/>
          </a:prstGeom>
          <a:noFill/>
          <a:ln/>
        </p:spPr>
        <p:txBody>
          <a:bodyPr wrap="square" lIns="0" tIns="0" rIns="0" bIns="0" rtlCol="0" anchor="ctr"/>
          <a:lstStyle/>
          <a:p>
            <a:pPr indent="0" marL="0">
              <a:buNone/>
            </a:pPr>
            <a:r>
              <a:rPr lang="en-US" sz="1100" dirty="0">
                <a:solidFill>
                  <a:srgbClr val="241C17"/>
                </a:solidFill>
                <a:latin typeface="Calibri" pitchFamily="34" charset="0"/>
                <a:ea typeface="Calibri" pitchFamily="34" charset="-122"/>
                <a:cs typeface="Calibri" pitchFamily="34" charset="-120"/>
              </a:rPr>
              <a:t>Users avoid the feature</a:t>
            </a:r>
            <a:endParaRPr lang="en-US" sz="1100" dirty="0"/>
          </a:p>
        </p:txBody>
      </p:sp>
      <p:sp>
        <p:nvSpPr>
          <p:cNvPr id="42" name="Text 40"/>
          <p:cNvSpPr txBox="1"/>
          <p:nvPr/>
        </p:nvSpPr>
        <p:spPr>
          <a:xfrm>
            <a:off x="457200" y="4224528"/>
            <a:ext cx="594360" cy="274320"/>
          </a:xfrm>
          <a:prstGeom prst="rect">
            <a:avLst/>
          </a:prstGeom>
          <a:noFill/>
          <a:ln/>
        </p:spPr>
        <p:txBody>
          <a:bodyPr wrap="square" lIns="0" tIns="0" rIns="0" bIns="0" rtlCol="0" anchor="ctr"/>
          <a:lstStyle/>
          <a:p>
            <a:pPr indent="0" marL="0">
              <a:buNone/>
            </a:pPr>
            <a:r>
              <a:rPr lang="en-US" sz="1100" b="1" dirty="0">
                <a:solidFill>
                  <a:srgbClr val="15803D"/>
                </a:solidFill>
                <a:latin typeface="Calibri" pitchFamily="34" charset="0"/>
                <a:ea typeface="Calibri" pitchFamily="34" charset="-122"/>
                <a:cs typeface="Calibri" pitchFamily="34" charset="-120"/>
              </a:rPr>
              <a:t>GOOD</a:t>
            </a:r>
            <a:endParaRPr lang="en-US" sz="1100" dirty="0"/>
          </a:p>
        </p:txBody>
      </p:sp>
      <p:sp>
        <p:nvSpPr>
          <p:cNvPr id="43" name="Shape 41"/>
          <p:cNvSpPr/>
          <p:nvPr/>
        </p:nvSpPr>
        <p:spPr>
          <a:xfrm>
            <a:off x="1097280" y="4224528"/>
            <a:ext cx="1143000" cy="274320"/>
          </a:xfrm>
          <a:prstGeom prst="roundRect">
            <a:avLst>
              <a:gd name="adj" fmla="val 50000"/>
            </a:avLst>
          </a:prstGeom>
          <a:solidFill>
            <a:srgbClr val="E8F6EC"/>
          </a:solidFill>
          <a:ln w="6350">
            <a:solidFill>
              <a:srgbClr val="B7E1C4"/>
            </a:solidFill>
            <a:prstDash val="solid"/>
          </a:ln>
        </p:spPr>
      </p:sp>
      <p:sp>
        <p:nvSpPr>
          <p:cNvPr id="44" name="Text 42"/>
          <p:cNvSpPr txBox="1"/>
          <p:nvPr/>
        </p:nvSpPr>
        <p:spPr>
          <a:xfrm>
            <a:off x="1097280" y="4224528"/>
            <a:ext cx="1143000" cy="274320"/>
          </a:xfrm>
          <a:prstGeom prst="rect">
            <a:avLst/>
          </a:prstGeom>
          <a:noFill/>
          <a:ln/>
        </p:spPr>
        <p:txBody>
          <a:bodyPr wrap="square" lIns="0" tIns="0" rIns="0" bIns="0" rtlCol="0" anchor="ctr"/>
          <a:lstStyle/>
          <a:p>
            <a:pPr algn="ctr" indent="0" marL="0">
              <a:buNone/>
            </a:pPr>
            <a:r>
              <a:rPr lang="en-US" sz="1050" b="1" dirty="0">
                <a:solidFill>
                  <a:srgbClr val="15803D"/>
                </a:solidFill>
                <a:latin typeface="Calibri" pitchFamily="34" charset="0"/>
                <a:ea typeface="Calibri" pitchFamily="34" charset="-122"/>
                <a:cs typeface="Calibri" pitchFamily="34" charset="-120"/>
              </a:rPr>
              <a:t>Add Vihar</a:t>
            </a:r>
            <a:endParaRPr lang="en-US" sz="1050" dirty="0"/>
          </a:p>
        </p:txBody>
      </p:sp>
      <p:sp>
        <p:nvSpPr>
          <p:cNvPr id="45" name="Text 43"/>
          <p:cNvSpPr txBox="1"/>
          <p:nvPr/>
        </p:nvSpPr>
        <p:spPr>
          <a:xfrm>
            <a:off x="2240280" y="4224528"/>
            <a:ext cx="228600" cy="274320"/>
          </a:xfrm>
          <a:prstGeom prst="rect">
            <a:avLst/>
          </a:prstGeom>
          <a:noFill/>
          <a:ln/>
        </p:spPr>
        <p:txBody>
          <a:bodyPr wrap="square" lIns="0" tIns="0" rIns="0" bIns="0" rtlCol="0" anchor="ctr"/>
          <a:lstStyle/>
          <a:p>
            <a:pPr algn="ctr" indent="0" marL="0">
              <a:buNone/>
            </a:pPr>
            <a:r>
              <a:rPr lang="en-US" sz="1300" b="1" dirty="0">
                <a:solidFill>
                  <a:srgbClr val="15803D"/>
                </a:solidFill>
                <a:latin typeface="Calibri" pitchFamily="34" charset="0"/>
                <a:ea typeface="Calibri" pitchFamily="34" charset="-122"/>
                <a:cs typeface="Calibri" pitchFamily="34" charset="-120"/>
              </a:rPr>
              <a:t>→</a:t>
            </a:r>
            <a:endParaRPr lang="en-US" sz="1300" dirty="0"/>
          </a:p>
        </p:txBody>
      </p:sp>
      <p:sp>
        <p:nvSpPr>
          <p:cNvPr id="46" name="Shape 44"/>
          <p:cNvSpPr/>
          <p:nvPr/>
        </p:nvSpPr>
        <p:spPr>
          <a:xfrm>
            <a:off x="2468880" y="4224528"/>
            <a:ext cx="1143000" cy="274320"/>
          </a:xfrm>
          <a:prstGeom prst="roundRect">
            <a:avLst>
              <a:gd name="adj" fmla="val 50000"/>
            </a:avLst>
          </a:prstGeom>
          <a:solidFill>
            <a:srgbClr val="E8F6EC"/>
          </a:solidFill>
          <a:ln w="6350">
            <a:solidFill>
              <a:srgbClr val="B7E1C4"/>
            </a:solidFill>
            <a:prstDash val="solid"/>
          </a:ln>
        </p:spPr>
      </p:sp>
      <p:sp>
        <p:nvSpPr>
          <p:cNvPr id="47" name="Text 45"/>
          <p:cNvSpPr txBox="1"/>
          <p:nvPr/>
        </p:nvSpPr>
        <p:spPr>
          <a:xfrm>
            <a:off x="2468880" y="4224528"/>
            <a:ext cx="1143000" cy="274320"/>
          </a:xfrm>
          <a:prstGeom prst="rect">
            <a:avLst/>
          </a:prstGeom>
          <a:noFill/>
          <a:ln/>
        </p:spPr>
        <p:txBody>
          <a:bodyPr wrap="square" lIns="0" tIns="0" rIns="0" bIns="0" rtlCol="0" anchor="ctr"/>
          <a:lstStyle/>
          <a:p>
            <a:pPr algn="ctr" indent="0" marL="0">
              <a:buNone/>
            </a:pPr>
            <a:r>
              <a:rPr lang="en-US" sz="1050" b="1" dirty="0">
                <a:solidFill>
                  <a:srgbClr val="15803D"/>
                </a:solidFill>
                <a:latin typeface="Calibri" pitchFamily="34" charset="0"/>
                <a:ea typeface="Calibri" pitchFamily="34" charset="-122"/>
                <a:cs typeface="Calibri" pitchFamily="34" charset="-120"/>
              </a:rPr>
              <a:t>Submit</a:t>
            </a:r>
            <a:endParaRPr lang="en-US" sz="1050" dirty="0"/>
          </a:p>
        </p:txBody>
      </p:sp>
      <p:sp>
        <p:nvSpPr>
          <p:cNvPr id="48" name="Text 46"/>
          <p:cNvSpPr txBox="1"/>
          <p:nvPr/>
        </p:nvSpPr>
        <p:spPr>
          <a:xfrm>
            <a:off x="3611880" y="4224528"/>
            <a:ext cx="228600" cy="274320"/>
          </a:xfrm>
          <a:prstGeom prst="rect">
            <a:avLst/>
          </a:prstGeom>
          <a:noFill/>
          <a:ln/>
        </p:spPr>
        <p:txBody>
          <a:bodyPr wrap="square" lIns="0" tIns="0" rIns="0" bIns="0" rtlCol="0" anchor="ctr"/>
          <a:lstStyle/>
          <a:p>
            <a:pPr algn="ctr" indent="0" marL="0">
              <a:buNone/>
            </a:pPr>
            <a:r>
              <a:rPr lang="en-US" sz="1300" b="1" dirty="0">
                <a:solidFill>
                  <a:srgbClr val="15803D"/>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3840480" y="4224528"/>
            <a:ext cx="1143000" cy="274320"/>
          </a:xfrm>
          <a:prstGeom prst="roundRect">
            <a:avLst>
              <a:gd name="adj" fmla="val 50000"/>
            </a:avLst>
          </a:prstGeom>
          <a:solidFill>
            <a:srgbClr val="E8F6EC"/>
          </a:solidFill>
          <a:ln w="6350">
            <a:solidFill>
              <a:srgbClr val="B7E1C4"/>
            </a:solidFill>
            <a:prstDash val="solid"/>
          </a:ln>
        </p:spPr>
      </p:sp>
      <p:sp>
        <p:nvSpPr>
          <p:cNvPr id="50" name="Text 48"/>
          <p:cNvSpPr txBox="1"/>
          <p:nvPr/>
        </p:nvSpPr>
        <p:spPr>
          <a:xfrm>
            <a:off x="3840480" y="4224528"/>
            <a:ext cx="1143000" cy="274320"/>
          </a:xfrm>
          <a:prstGeom prst="rect">
            <a:avLst/>
          </a:prstGeom>
          <a:noFill/>
          <a:ln/>
        </p:spPr>
        <p:txBody>
          <a:bodyPr wrap="square" lIns="0" tIns="0" rIns="0" bIns="0" rtlCol="0" anchor="ctr"/>
          <a:lstStyle/>
          <a:p>
            <a:pPr algn="ctr" indent="0" marL="0">
              <a:buNone/>
            </a:pPr>
            <a:r>
              <a:rPr lang="en-US" sz="1050" b="1" dirty="0">
                <a:solidFill>
                  <a:srgbClr val="15803D"/>
                </a:solidFill>
                <a:latin typeface="Calibri" pitchFamily="34" charset="0"/>
                <a:ea typeface="Calibri" pitchFamily="34" charset="-122"/>
                <a:cs typeface="Calibri" pitchFamily="34" charset="-120"/>
              </a:rPr>
              <a:t>Confirmation</a:t>
            </a:r>
            <a:endParaRPr lang="en-US" sz="1050" dirty="0"/>
          </a:p>
        </p:txBody>
      </p:sp>
      <p:sp>
        <p:nvSpPr>
          <p:cNvPr id="51" name="Text 49"/>
          <p:cNvSpPr txBox="1"/>
          <p:nvPr/>
        </p:nvSpPr>
        <p:spPr>
          <a:xfrm>
            <a:off x="5303520" y="4224528"/>
            <a:ext cx="3383280" cy="274320"/>
          </a:xfrm>
          <a:prstGeom prst="rect">
            <a:avLst/>
          </a:prstGeom>
          <a:noFill/>
          <a:ln/>
        </p:spPr>
        <p:txBody>
          <a:bodyPr wrap="square" lIns="0" tIns="0" rIns="0" bIns="0" rtlCol="0" anchor="ctr"/>
          <a:lstStyle/>
          <a:p>
            <a:pPr indent="0" marL="0">
              <a:buNone/>
            </a:pPr>
            <a:r>
              <a:rPr lang="en-US" sz="1100" i="1" dirty="0">
                <a:solidFill>
                  <a:srgbClr val="6B5B50"/>
                </a:solidFill>
                <a:latin typeface="Calibri" pitchFamily="34" charset="0"/>
                <a:ea typeface="Calibri" pitchFamily="34" charset="-122"/>
                <a:cs typeface="Calibri" pitchFamily="34" charset="-120"/>
              </a:rPr>
              <a:t>3 steps, clear result</a:t>
            </a:r>
            <a:endParaRPr lang="en-US" sz="1100" dirty="0"/>
          </a:p>
        </p:txBody>
      </p:sp>
      <p:sp>
        <p:nvSpPr>
          <p:cNvPr id="52" name="Text 50"/>
          <p:cNvSpPr txBox="1"/>
          <p:nvPr/>
        </p:nvSpPr>
        <p:spPr>
          <a:xfrm>
            <a:off x="457200" y="4553712"/>
            <a:ext cx="594360" cy="274320"/>
          </a:xfrm>
          <a:prstGeom prst="rect">
            <a:avLst/>
          </a:prstGeom>
          <a:noFill/>
          <a:ln/>
        </p:spPr>
        <p:txBody>
          <a:bodyPr wrap="square" lIns="0" tIns="0" rIns="0" bIns="0" rtlCol="0" anchor="ctr"/>
          <a:lstStyle/>
          <a:p>
            <a:pPr indent="0" marL="0">
              <a:buNone/>
            </a:pPr>
            <a:r>
              <a:rPr lang="en-US" sz="1100" b="1" dirty="0">
                <a:solidFill>
                  <a:srgbClr val="B91C1C"/>
                </a:solidFill>
                <a:latin typeface="Calibri" pitchFamily="34" charset="0"/>
                <a:ea typeface="Calibri" pitchFamily="34" charset="-122"/>
                <a:cs typeface="Calibri" pitchFamily="34" charset="-120"/>
              </a:rPr>
              <a:t>BAD</a:t>
            </a:r>
            <a:endParaRPr lang="en-US" sz="1100" dirty="0"/>
          </a:p>
        </p:txBody>
      </p:sp>
      <p:sp>
        <p:nvSpPr>
          <p:cNvPr id="53" name="Shape 51"/>
          <p:cNvSpPr/>
          <p:nvPr/>
        </p:nvSpPr>
        <p:spPr>
          <a:xfrm>
            <a:off x="1097280" y="4553712"/>
            <a:ext cx="1097280" cy="274320"/>
          </a:xfrm>
          <a:prstGeom prst="roundRect">
            <a:avLst>
              <a:gd name="adj" fmla="val 50000"/>
            </a:avLst>
          </a:prstGeom>
          <a:solidFill>
            <a:srgbClr val="FDECEC"/>
          </a:solidFill>
          <a:ln w="6350">
            <a:solidFill>
              <a:srgbClr val="F5C2C2"/>
            </a:solidFill>
            <a:prstDash val="solid"/>
          </a:ln>
        </p:spPr>
      </p:sp>
      <p:sp>
        <p:nvSpPr>
          <p:cNvPr id="54" name="Text 52"/>
          <p:cNvSpPr txBox="1"/>
          <p:nvPr/>
        </p:nvSpPr>
        <p:spPr>
          <a:xfrm>
            <a:off x="1097280" y="4553712"/>
            <a:ext cx="1097280" cy="274320"/>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Open menu</a:t>
            </a:r>
            <a:endParaRPr lang="en-US" sz="1050" dirty="0"/>
          </a:p>
        </p:txBody>
      </p:sp>
      <p:sp>
        <p:nvSpPr>
          <p:cNvPr id="55" name="Text 53"/>
          <p:cNvSpPr txBox="1"/>
          <p:nvPr/>
        </p:nvSpPr>
        <p:spPr>
          <a:xfrm>
            <a:off x="2194560" y="4553712"/>
            <a:ext cx="164592" cy="27432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56" name="Shape 54"/>
          <p:cNvSpPr/>
          <p:nvPr/>
        </p:nvSpPr>
        <p:spPr>
          <a:xfrm>
            <a:off x="2359152" y="4553712"/>
            <a:ext cx="1097280" cy="274320"/>
          </a:xfrm>
          <a:prstGeom prst="roundRect">
            <a:avLst>
              <a:gd name="adj" fmla="val 50000"/>
            </a:avLst>
          </a:prstGeom>
          <a:solidFill>
            <a:srgbClr val="FDECEC"/>
          </a:solidFill>
          <a:ln w="6350">
            <a:solidFill>
              <a:srgbClr val="F5C2C2"/>
            </a:solidFill>
            <a:prstDash val="solid"/>
          </a:ln>
        </p:spPr>
      </p:sp>
      <p:sp>
        <p:nvSpPr>
          <p:cNvPr id="57" name="Text 55"/>
          <p:cNvSpPr txBox="1"/>
          <p:nvPr/>
        </p:nvSpPr>
        <p:spPr>
          <a:xfrm>
            <a:off x="2359152" y="4553712"/>
            <a:ext cx="1097280" cy="274320"/>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Find section</a:t>
            </a:r>
            <a:endParaRPr lang="en-US" sz="1050" dirty="0"/>
          </a:p>
        </p:txBody>
      </p:sp>
      <p:sp>
        <p:nvSpPr>
          <p:cNvPr id="58" name="Text 56"/>
          <p:cNvSpPr txBox="1"/>
          <p:nvPr/>
        </p:nvSpPr>
        <p:spPr>
          <a:xfrm>
            <a:off x="3456432" y="4553712"/>
            <a:ext cx="164592" cy="27432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59" name="Shape 57"/>
          <p:cNvSpPr/>
          <p:nvPr/>
        </p:nvSpPr>
        <p:spPr>
          <a:xfrm>
            <a:off x="3621024" y="4553712"/>
            <a:ext cx="1097280" cy="274320"/>
          </a:xfrm>
          <a:prstGeom prst="roundRect">
            <a:avLst>
              <a:gd name="adj" fmla="val 50000"/>
            </a:avLst>
          </a:prstGeom>
          <a:solidFill>
            <a:srgbClr val="FDECEC"/>
          </a:solidFill>
          <a:ln w="6350">
            <a:solidFill>
              <a:srgbClr val="F5C2C2"/>
            </a:solidFill>
            <a:prstDash val="solid"/>
          </a:ln>
        </p:spPr>
      </p:sp>
      <p:sp>
        <p:nvSpPr>
          <p:cNvPr id="60" name="Text 58"/>
          <p:cNvSpPr txBox="1"/>
          <p:nvPr/>
        </p:nvSpPr>
        <p:spPr>
          <a:xfrm>
            <a:off x="3621024" y="4553712"/>
            <a:ext cx="1097280" cy="274320"/>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Open submenu</a:t>
            </a:r>
            <a:endParaRPr lang="en-US" sz="1050" dirty="0"/>
          </a:p>
        </p:txBody>
      </p:sp>
      <p:sp>
        <p:nvSpPr>
          <p:cNvPr id="61" name="Text 59"/>
          <p:cNvSpPr txBox="1"/>
          <p:nvPr/>
        </p:nvSpPr>
        <p:spPr>
          <a:xfrm>
            <a:off x="4718304" y="4553712"/>
            <a:ext cx="164592" cy="27432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62" name="Shape 60"/>
          <p:cNvSpPr/>
          <p:nvPr/>
        </p:nvSpPr>
        <p:spPr>
          <a:xfrm>
            <a:off x="4882896" y="4553712"/>
            <a:ext cx="1097280" cy="274320"/>
          </a:xfrm>
          <a:prstGeom prst="roundRect">
            <a:avLst>
              <a:gd name="adj" fmla="val 50000"/>
            </a:avLst>
          </a:prstGeom>
          <a:solidFill>
            <a:srgbClr val="FDECEC"/>
          </a:solidFill>
          <a:ln w="6350">
            <a:solidFill>
              <a:srgbClr val="F5C2C2"/>
            </a:solidFill>
            <a:prstDash val="solid"/>
          </a:ln>
        </p:spPr>
      </p:sp>
      <p:sp>
        <p:nvSpPr>
          <p:cNvPr id="63" name="Text 61"/>
          <p:cNvSpPr txBox="1"/>
          <p:nvPr/>
        </p:nvSpPr>
        <p:spPr>
          <a:xfrm>
            <a:off x="4882896" y="4553712"/>
            <a:ext cx="1097280" cy="274320"/>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Fill extra fields</a:t>
            </a:r>
            <a:endParaRPr lang="en-US" sz="1050" dirty="0"/>
          </a:p>
        </p:txBody>
      </p:sp>
      <p:sp>
        <p:nvSpPr>
          <p:cNvPr id="64" name="Text 62"/>
          <p:cNvSpPr txBox="1"/>
          <p:nvPr/>
        </p:nvSpPr>
        <p:spPr>
          <a:xfrm>
            <a:off x="5980176" y="4553712"/>
            <a:ext cx="164592" cy="27432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65" name="Shape 63"/>
          <p:cNvSpPr/>
          <p:nvPr/>
        </p:nvSpPr>
        <p:spPr>
          <a:xfrm>
            <a:off x="6144768" y="4553712"/>
            <a:ext cx="1097280" cy="274320"/>
          </a:xfrm>
          <a:prstGeom prst="roundRect">
            <a:avLst>
              <a:gd name="adj" fmla="val 50000"/>
            </a:avLst>
          </a:prstGeom>
          <a:solidFill>
            <a:srgbClr val="FDECEC"/>
          </a:solidFill>
          <a:ln w="6350">
            <a:solidFill>
              <a:srgbClr val="F5C2C2"/>
            </a:solidFill>
            <a:prstDash val="solid"/>
          </a:ln>
        </p:spPr>
      </p:sp>
      <p:sp>
        <p:nvSpPr>
          <p:cNvPr id="66" name="Text 64"/>
          <p:cNvSpPr txBox="1"/>
          <p:nvPr/>
        </p:nvSpPr>
        <p:spPr>
          <a:xfrm>
            <a:off x="6144768" y="4553712"/>
            <a:ext cx="1097280" cy="274320"/>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Submit</a:t>
            </a:r>
            <a:endParaRPr lang="en-US" sz="1050" dirty="0"/>
          </a:p>
        </p:txBody>
      </p:sp>
      <p:sp>
        <p:nvSpPr>
          <p:cNvPr id="67" name="Text 65"/>
          <p:cNvSpPr txBox="1"/>
          <p:nvPr/>
        </p:nvSpPr>
        <p:spPr>
          <a:xfrm>
            <a:off x="7242048" y="4553712"/>
            <a:ext cx="164592" cy="274320"/>
          </a:xfrm>
          <a:prstGeom prst="rect">
            <a:avLst/>
          </a:prstGeom>
          <a:noFill/>
          <a:ln/>
        </p:spPr>
        <p:txBody>
          <a:bodyPr wrap="square" lIns="0" tIns="0" rIns="0" bIns="0" rtlCol="0" anchor="ctr"/>
          <a:lstStyle/>
          <a:p>
            <a:pPr algn="ctr" indent="0" marL="0">
              <a:buNone/>
            </a:pPr>
            <a:r>
              <a:rPr lang="en-US" sz="1200" b="1" dirty="0">
                <a:solidFill>
                  <a:srgbClr val="B91C1C"/>
                </a:solidFill>
                <a:latin typeface="Calibri" pitchFamily="34" charset="0"/>
                <a:ea typeface="Calibri" pitchFamily="34" charset="-122"/>
                <a:cs typeface="Calibri" pitchFamily="34" charset="-120"/>
              </a:rPr>
              <a:t>→</a:t>
            </a:r>
            <a:endParaRPr lang="en-US" sz="1200" dirty="0"/>
          </a:p>
        </p:txBody>
      </p:sp>
      <p:sp>
        <p:nvSpPr>
          <p:cNvPr id="68" name="Shape 66"/>
          <p:cNvSpPr/>
          <p:nvPr/>
        </p:nvSpPr>
        <p:spPr>
          <a:xfrm>
            <a:off x="7406640" y="4553712"/>
            <a:ext cx="1097280" cy="274320"/>
          </a:xfrm>
          <a:prstGeom prst="roundRect">
            <a:avLst>
              <a:gd name="adj" fmla="val 50000"/>
            </a:avLst>
          </a:prstGeom>
          <a:solidFill>
            <a:srgbClr val="FDECEC"/>
          </a:solidFill>
          <a:ln w="6350">
            <a:solidFill>
              <a:srgbClr val="F5C2C2"/>
            </a:solidFill>
            <a:prstDash val="solid"/>
          </a:ln>
        </p:spPr>
      </p:sp>
      <p:sp>
        <p:nvSpPr>
          <p:cNvPr id="69" name="Text 67"/>
          <p:cNvSpPr txBox="1"/>
          <p:nvPr/>
        </p:nvSpPr>
        <p:spPr>
          <a:xfrm>
            <a:off x="7406640" y="4553712"/>
            <a:ext cx="1097280" cy="274320"/>
          </a:xfrm>
          <a:prstGeom prst="rect">
            <a:avLst/>
          </a:prstGeom>
          <a:noFill/>
          <a:ln/>
        </p:spPr>
        <p:txBody>
          <a:bodyPr wrap="square" lIns="0" tIns="0" rIns="0" bIns="0" rtlCol="0" anchor="ctr"/>
          <a:lstStyle/>
          <a:p>
            <a:pPr algn="ctr" indent="0" marL="0">
              <a:buNone/>
            </a:pPr>
            <a:r>
              <a:rPr lang="en-US" sz="1050" b="1" dirty="0">
                <a:solidFill>
                  <a:srgbClr val="B91C1C"/>
                </a:solidFill>
                <a:latin typeface="Calibri" pitchFamily="34" charset="0"/>
                <a:ea typeface="Calibri" pitchFamily="34" charset="-122"/>
                <a:cs typeface="Calibri" pitchFamily="34" charset="-120"/>
              </a:rPr>
              <a:t>Unclear result</a:t>
            </a:r>
            <a:endParaRPr lang="en-US" sz="105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A8B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indent="0" marL="0">
              <a:buNone/>
            </a:pPr>
            <a:r>
              <a:rPr lang="en-US" sz="2800" b="1" dirty="0">
                <a:solidFill>
                  <a:srgbClr val="241C17"/>
                </a:solidFill>
                <a:latin typeface="Calibri" pitchFamily="34" charset="0"/>
                <a:ea typeface="Calibri" pitchFamily="34" charset="-122"/>
                <a:cs typeface="Calibri" pitchFamily="34" charset="-120"/>
              </a:rPr>
              <a:t>How Can We Improve the Design?</a:t>
            </a:r>
            <a:endParaRPr lang="en-US" sz="2800" dirty="0"/>
          </a:p>
        </p:txBody>
      </p:sp>
      <p:sp>
        <p:nvSpPr>
          <p:cNvPr id="3" name="Shape 1"/>
          <p:cNvSpPr/>
          <p:nvPr/>
        </p:nvSpPr>
        <p:spPr>
          <a:xfrm>
            <a:off x="457200" y="914400"/>
            <a:ext cx="1920240" cy="960120"/>
          </a:xfrm>
          <a:prstGeom prst="roundRect">
            <a:avLst>
              <a:gd name="adj" fmla="val 9524"/>
            </a:avLst>
          </a:prstGeom>
          <a:solidFill>
            <a:srgbClr val="FAF6F0"/>
          </a:solidFill>
          <a:ln w="9525">
            <a:solidFill>
              <a:srgbClr val="EADFD2"/>
            </a:solidFill>
            <a:prstDash val="solid"/>
          </a:ln>
        </p:spPr>
      </p:sp>
      <p:sp>
        <p:nvSpPr>
          <p:cNvPr id="4" name="Shape 2"/>
          <p:cNvSpPr/>
          <p:nvPr/>
        </p:nvSpPr>
        <p:spPr>
          <a:xfrm>
            <a:off x="566928" y="1005840"/>
            <a:ext cx="256032" cy="256032"/>
          </a:xfrm>
          <a:prstGeom prst="ellipse">
            <a:avLst/>
          </a:prstGeom>
          <a:solidFill>
            <a:srgbClr val="EA580C"/>
          </a:solidFill>
          <a:ln w="6350">
            <a:solidFill>
              <a:srgbClr val="EA580C"/>
            </a:solidFill>
            <a:prstDash val="solid"/>
          </a:ln>
        </p:spPr>
      </p:sp>
      <p:sp>
        <p:nvSpPr>
          <p:cNvPr id="5" name="Text 3"/>
          <p:cNvSpPr txBox="1"/>
          <p:nvPr/>
        </p:nvSpPr>
        <p:spPr>
          <a:xfrm>
            <a:off x="566928" y="10058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14400" y="1005840"/>
            <a:ext cx="1371600" cy="256032"/>
          </a:xfrm>
          <a:prstGeom prst="rect">
            <a:avLst/>
          </a:prstGeom>
          <a:noFill/>
          <a:ln/>
        </p:spPr>
        <p:txBody>
          <a:bodyPr wrap="square" lIns="0" tIns="0" rIns="0" bIns="0" rtlCol="0" anchor="ctr"/>
          <a:lstStyle/>
          <a:p>
            <a:pPr indent="0" marL="0">
              <a:buNone/>
            </a:pPr>
            <a:r>
              <a:rPr lang="en-US" sz="1400" b="1" dirty="0">
                <a:solidFill>
                  <a:srgbClr val="241C17"/>
                </a:solidFill>
                <a:latin typeface="Calibri" pitchFamily="34" charset="0"/>
                <a:ea typeface="Calibri" pitchFamily="34" charset="-122"/>
                <a:cs typeface="Calibri" pitchFamily="34" charset="-120"/>
              </a:rPr>
              <a:t>SIMPLIFY</a:t>
            </a:r>
            <a:endParaRPr lang="en-US" sz="1400" dirty="0"/>
          </a:p>
        </p:txBody>
      </p:sp>
      <p:sp>
        <p:nvSpPr>
          <p:cNvPr id="7" name="Text 5"/>
          <p:cNvSpPr txBox="1"/>
          <p:nvPr/>
        </p:nvSpPr>
        <p:spPr>
          <a:xfrm>
            <a:off x="566928" y="1325880"/>
            <a:ext cx="1700784" cy="502920"/>
          </a:xfrm>
          <a:prstGeom prst="rect">
            <a:avLst/>
          </a:prstGeom>
          <a:noFill/>
          <a:ln/>
        </p:spPr>
        <p:txBody>
          <a:bodyPr wrap="square" lIns="0" tIns="0" rIns="0" bIns="0" rtlCol="0" anchor="t"/>
          <a:lstStyle/>
          <a:p>
            <a:pPr indent="0" marL="0">
              <a:buNone/>
            </a:pPr>
            <a:r>
              <a:rPr lang="en-US" sz="1100" dirty="0">
                <a:solidFill>
                  <a:srgbClr val="6B5B50"/>
                </a:solidFill>
                <a:latin typeface="Calibri" pitchFamily="34" charset="0"/>
                <a:ea typeface="Calibri" pitchFamily="34" charset="-122"/>
                <a:cs typeface="Calibri" pitchFamily="34" charset="-120"/>
              </a:rPr>
              <a:t>Remove extras; reduce cognitive load.</a:t>
            </a:r>
            <a:endParaRPr lang="en-US" sz="1100" dirty="0"/>
          </a:p>
        </p:txBody>
      </p:sp>
      <p:sp>
        <p:nvSpPr>
          <p:cNvPr id="8" name="Shape 6"/>
          <p:cNvSpPr/>
          <p:nvPr/>
        </p:nvSpPr>
        <p:spPr>
          <a:xfrm>
            <a:off x="2560320" y="914400"/>
            <a:ext cx="1920240" cy="960120"/>
          </a:xfrm>
          <a:prstGeom prst="roundRect">
            <a:avLst>
              <a:gd name="adj" fmla="val 9524"/>
            </a:avLst>
          </a:prstGeom>
          <a:solidFill>
            <a:srgbClr val="FAF6F0"/>
          </a:solidFill>
          <a:ln w="9525">
            <a:solidFill>
              <a:srgbClr val="EADFD2"/>
            </a:solidFill>
            <a:prstDash val="solid"/>
          </a:ln>
        </p:spPr>
      </p:sp>
      <p:sp>
        <p:nvSpPr>
          <p:cNvPr id="9" name="Shape 7"/>
          <p:cNvSpPr/>
          <p:nvPr/>
        </p:nvSpPr>
        <p:spPr>
          <a:xfrm>
            <a:off x="2670048" y="1005840"/>
            <a:ext cx="256032" cy="256032"/>
          </a:xfrm>
          <a:prstGeom prst="ellipse">
            <a:avLst/>
          </a:prstGeom>
          <a:solidFill>
            <a:srgbClr val="EA580C"/>
          </a:solidFill>
          <a:ln w="6350">
            <a:solidFill>
              <a:srgbClr val="EA580C"/>
            </a:solidFill>
            <a:prstDash val="solid"/>
          </a:ln>
        </p:spPr>
      </p:sp>
      <p:sp>
        <p:nvSpPr>
          <p:cNvPr id="10" name="Text 8"/>
          <p:cNvSpPr txBox="1"/>
          <p:nvPr/>
        </p:nvSpPr>
        <p:spPr>
          <a:xfrm>
            <a:off x="2670048" y="10058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3017520" y="1005840"/>
            <a:ext cx="1371600" cy="256032"/>
          </a:xfrm>
          <a:prstGeom prst="rect">
            <a:avLst/>
          </a:prstGeom>
          <a:noFill/>
          <a:ln/>
        </p:spPr>
        <p:txBody>
          <a:bodyPr wrap="square" lIns="0" tIns="0" rIns="0" bIns="0" rtlCol="0" anchor="ctr"/>
          <a:lstStyle/>
          <a:p>
            <a:pPr indent="0" marL="0">
              <a:buNone/>
            </a:pPr>
            <a:r>
              <a:rPr lang="en-US" sz="1400" b="1" dirty="0">
                <a:solidFill>
                  <a:srgbClr val="241C17"/>
                </a:solidFill>
                <a:latin typeface="Calibri" pitchFamily="34" charset="0"/>
                <a:ea typeface="Calibri" pitchFamily="34" charset="-122"/>
                <a:cs typeface="Calibri" pitchFamily="34" charset="-120"/>
              </a:rPr>
              <a:t>PRIORITIZE</a:t>
            </a:r>
            <a:endParaRPr lang="en-US" sz="1400" dirty="0"/>
          </a:p>
        </p:txBody>
      </p:sp>
      <p:sp>
        <p:nvSpPr>
          <p:cNvPr id="12" name="Text 10"/>
          <p:cNvSpPr txBox="1"/>
          <p:nvPr/>
        </p:nvSpPr>
        <p:spPr>
          <a:xfrm>
            <a:off x="2670048" y="1325880"/>
            <a:ext cx="1700784" cy="502920"/>
          </a:xfrm>
          <a:prstGeom prst="rect">
            <a:avLst/>
          </a:prstGeom>
          <a:noFill/>
          <a:ln/>
        </p:spPr>
        <p:txBody>
          <a:bodyPr wrap="square" lIns="0" tIns="0" rIns="0" bIns="0" rtlCol="0" anchor="t"/>
          <a:lstStyle/>
          <a:p>
            <a:pPr indent="0" marL="0">
              <a:buNone/>
            </a:pPr>
            <a:r>
              <a:rPr lang="en-US" sz="1100" dirty="0">
                <a:solidFill>
                  <a:srgbClr val="6B5B50"/>
                </a:solidFill>
                <a:latin typeface="Calibri" pitchFamily="34" charset="0"/>
                <a:ea typeface="Calibri" pitchFamily="34" charset="-122"/>
                <a:cs typeface="Calibri" pitchFamily="34" charset="-120"/>
              </a:rPr>
              <a:t>Most important actions and info first.</a:t>
            </a:r>
            <a:endParaRPr lang="en-US" sz="1100" dirty="0"/>
          </a:p>
        </p:txBody>
      </p:sp>
      <p:sp>
        <p:nvSpPr>
          <p:cNvPr id="13" name="Shape 11"/>
          <p:cNvSpPr/>
          <p:nvPr/>
        </p:nvSpPr>
        <p:spPr>
          <a:xfrm>
            <a:off x="4663440" y="914400"/>
            <a:ext cx="1920240" cy="960120"/>
          </a:xfrm>
          <a:prstGeom prst="roundRect">
            <a:avLst>
              <a:gd name="adj" fmla="val 9524"/>
            </a:avLst>
          </a:prstGeom>
          <a:solidFill>
            <a:srgbClr val="FAF6F0"/>
          </a:solidFill>
          <a:ln w="9525">
            <a:solidFill>
              <a:srgbClr val="EADFD2"/>
            </a:solidFill>
            <a:prstDash val="solid"/>
          </a:ln>
        </p:spPr>
      </p:sp>
      <p:sp>
        <p:nvSpPr>
          <p:cNvPr id="14" name="Shape 12"/>
          <p:cNvSpPr/>
          <p:nvPr/>
        </p:nvSpPr>
        <p:spPr>
          <a:xfrm>
            <a:off x="4773168" y="1005840"/>
            <a:ext cx="256032" cy="256032"/>
          </a:xfrm>
          <a:prstGeom prst="ellipse">
            <a:avLst/>
          </a:prstGeom>
          <a:solidFill>
            <a:srgbClr val="EA580C"/>
          </a:solidFill>
          <a:ln w="6350">
            <a:solidFill>
              <a:srgbClr val="EA580C"/>
            </a:solidFill>
            <a:prstDash val="solid"/>
          </a:ln>
        </p:spPr>
      </p:sp>
      <p:sp>
        <p:nvSpPr>
          <p:cNvPr id="15" name="Text 13"/>
          <p:cNvSpPr txBox="1"/>
          <p:nvPr/>
        </p:nvSpPr>
        <p:spPr>
          <a:xfrm>
            <a:off x="4773168" y="10058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5120640" y="1005840"/>
            <a:ext cx="1371600" cy="256032"/>
          </a:xfrm>
          <a:prstGeom prst="rect">
            <a:avLst/>
          </a:prstGeom>
          <a:noFill/>
          <a:ln/>
        </p:spPr>
        <p:txBody>
          <a:bodyPr wrap="square" lIns="0" tIns="0" rIns="0" bIns="0" rtlCol="0" anchor="ctr"/>
          <a:lstStyle/>
          <a:p>
            <a:pPr indent="0" marL="0">
              <a:buNone/>
            </a:pPr>
            <a:r>
              <a:rPr lang="en-US" sz="1400" b="1" dirty="0">
                <a:solidFill>
                  <a:srgbClr val="241C17"/>
                </a:solidFill>
                <a:latin typeface="Calibri" pitchFamily="34" charset="0"/>
                <a:ea typeface="Calibri" pitchFamily="34" charset="-122"/>
                <a:cs typeface="Calibri" pitchFamily="34" charset="-120"/>
              </a:rPr>
              <a:t>GUIDE</a:t>
            </a:r>
            <a:endParaRPr lang="en-US" sz="1400" dirty="0"/>
          </a:p>
        </p:txBody>
      </p:sp>
      <p:sp>
        <p:nvSpPr>
          <p:cNvPr id="17" name="Text 15"/>
          <p:cNvSpPr txBox="1"/>
          <p:nvPr/>
        </p:nvSpPr>
        <p:spPr>
          <a:xfrm>
            <a:off x="4773168" y="1325880"/>
            <a:ext cx="1700784" cy="502920"/>
          </a:xfrm>
          <a:prstGeom prst="rect">
            <a:avLst/>
          </a:prstGeom>
          <a:noFill/>
          <a:ln/>
        </p:spPr>
        <p:txBody>
          <a:bodyPr wrap="square" lIns="0" tIns="0" rIns="0" bIns="0" rtlCol="0" anchor="t"/>
          <a:lstStyle/>
          <a:p>
            <a:pPr indent="0" marL="0">
              <a:buNone/>
            </a:pPr>
            <a:r>
              <a:rPr lang="en-US" sz="1100" dirty="0">
                <a:solidFill>
                  <a:srgbClr val="6B5B50"/>
                </a:solidFill>
                <a:latin typeface="Calibri" pitchFamily="34" charset="0"/>
                <a:ea typeface="Calibri" pitchFamily="34" charset="-122"/>
                <a:cs typeface="Calibri" pitchFamily="34" charset="-120"/>
              </a:rPr>
              <a:t>Clear feedback, status, confirmations, labels.</a:t>
            </a:r>
            <a:endParaRPr lang="en-US" sz="1100" dirty="0"/>
          </a:p>
        </p:txBody>
      </p:sp>
      <p:sp>
        <p:nvSpPr>
          <p:cNvPr id="18" name="Shape 16"/>
          <p:cNvSpPr/>
          <p:nvPr/>
        </p:nvSpPr>
        <p:spPr>
          <a:xfrm>
            <a:off x="6766560" y="914400"/>
            <a:ext cx="1920240" cy="960120"/>
          </a:xfrm>
          <a:prstGeom prst="roundRect">
            <a:avLst>
              <a:gd name="adj" fmla="val 9524"/>
            </a:avLst>
          </a:prstGeom>
          <a:solidFill>
            <a:srgbClr val="FAF6F0"/>
          </a:solidFill>
          <a:ln w="9525">
            <a:solidFill>
              <a:srgbClr val="EADFD2"/>
            </a:solidFill>
            <a:prstDash val="solid"/>
          </a:ln>
        </p:spPr>
      </p:sp>
      <p:sp>
        <p:nvSpPr>
          <p:cNvPr id="19" name="Shape 17"/>
          <p:cNvSpPr/>
          <p:nvPr/>
        </p:nvSpPr>
        <p:spPr>
          <a:xfrm>
            <a:off x="6876288" y="1005840"/>
            <a:ext cx="256032" cy="256032"/>
          </a:xfrm>
          <a:prstGeom prst="ellipse">
            <a:avLst/>
          </a:prstGeom>
          <a:solidFill>
            <a:srgbClr val="EA580C"/>
          </a:solidFill>
          <a:ln w="6350">
            <a:solidFill>
              <a:srgbClr val="EA580C"/>
            </a:solidFill>
            <a:prstDash val="solid"/>
          </a:ln>
        </p:spPr>
      </p:sp>
      <p:sp>
        <p:nvSpPr>
          <p:cNvPr id="20" name="Text 18"/>
          <p:cNvSpPr txBox="1"/>
          <p:nvPr/>
        </p:nvSpPr>
        <p:spPr>
          <a:xfrm>
            <a:off x="6876288" y="10058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7223760" y="1005840"/>
            <a:ext cx="1371600" cy="256032"/>
          </a:xfrm>
          <a:prstGeom prst="rect">
            <a:avLst/>
          </a:prstGeom>
          <a:noFill/>
          <a:ln/>
        </p:spPr>
        <p:txBody>
          <a:bodyPr wrap="square" lIns="0" tIns="0" rIns="0" bIns="0" rtlCol="0" anchor="ctr"/>
          <a:lstStyle/>
          <a:p>
            <a:pPr indent="0" marL="0">
              <a:buNone/>
            </a:pPr>
            <a:r>
              <a:rPr lang="en-US" sz="1400" b="1" dirty="0">
                <a:solidFill>
                  <a:srgbClr val="241C17"/>
                </a:solidFill>
                <a:latin typeface="Calibri" pitchFamily="34" charset="0"/>
                <a:ea typeface="Calibri" pitchFamily="34" charset="-122"/>
                <a:cs typeface="Calibri" pitchFamily="34" charset="-120"/>
              </a:rPr>
              <a:t>OPTIMIZE</a:t>
            </a:r>
            <a:endParaRPr lang="en-US" sz="1400" dirty="0"/>
          </a:p>
        </p:txBody>
      </p:sp>
      <p:sp>
        <p:nvSpPr>
          <p:cNvPr id="22" name="Text 20"/>
          <p:cNvSpPr txBox="1"/>
          <p:nvPr/>
        </p:nvSpPr>
        <p:spPr>
          <a:xfrm>
            <a:off x="6876288" y="1325880"/>
            <a:ext cx="1700784" cy="502920"/>
          </a:xfrm>
          <a:prstGeom prst="rect">
            <a:avLst/>
          </a:prstGeom>
          <a:noFill/>
          <a:ln/>
        </p:spPr>
        <p:txBody>
          <a:bodyPr wrap="square" lIns="0" tIns="0" rIns="0" bIns="0" rtlCol="0" anchor="t"/>
          <a:lstStyle/>
          <a:p>
            <a:pPr indent="0" marL="0">
              <a:buNone/>
            </a:pPr>
            <a:r>
              <a:rPr lang="en-US" sz="1100" dirty="0">
                <a:solidFill>
                  <a:srgbClr val="6B5B50"/>
                </a:solidFill>
                <a:latin typeface="Calibri" pitchFamily="34" charset="0"/>
                <a:ea typeface="Calibri" pitchFamily="34" charset="-122"/>
                <a:cs typeface="Calibri" pitchFamily="34" charset="-120"/>
              </a:rPr>
              <a:t>Devices, accessibility, performance, real behaviour.</a:t>
            </a:r>
            <a:endParaRPr lang="en-US" sz="1100" dirty="0"/>
          </a:p>
        </p:txBody>
      </p:sp>
      <p:sp>
        <p:nvSpPr>
          <p:cNvPr id="23" name="Shape 21"/>
          <p:cNvSpPr/>
          <p:nvPr/>
        </p:nvSpPr>
        <p:spPr>
          <a:xfrm>
            <a:off x="457200" y="2011680"/>
            <a:ext cx="4023360" cy="1783080"/>
          </a:xfrm>
          <a:prstGeom prst="roundRect">
            <a:avLst>
              <a:gd name="adj" fmla="val 5128"/>
            </a:avLst>
          </a:prstGeom>
          <a:solidFill>
            <a:srgbClr val="FAF6F0"/>
          </a:solidFill>
          <a:ln w="9525">
            <a:solidFill>
              <a:srgbClr val="EADFD2"/>
            </a:solidFill>
            <a:prstDash val="solid"/>
          </a:ln>
        </p:spPr>
      </p:sp>
      <p:sp>
        <p:nvSpPr>
          <p:cNvPr id="24" name="Text 22"/>
          <p:cNvSpPr txBox="1"/>
          <p:nvPr/>
        </p:nvSpPr>
        <p:spPr>
          <a:xfrm>
            <a:off x="594360" y="2075688"/>
            <a:ext cx="3749040" cy="256032"/>
          </a:xfrm>
          <a:prstGeom prst="rect">
            <a:avLst/>
          </a:prstGeom>
          <a:noFill/>
          <a:ln/>
        </p:spPr>
        <p:txBody>
          <a:bodyPr wrap="square" lIns="0" tIns="0" rIns="0" bIns="0" rtlCol="0" anchor="ctr"/>
          <a:lstStyle/>
          <a:p>
            <a:pPr indent="0" marL="0">
              <a:buNone/>
            </a:pPr>
            <a:r>
              <a:rPr lang="en-US" sz="1300" b="1" dirty="0">
                <a:solidFill>
                  <a:srgbClr val="241C17"/>
                </a:solidFill>
                <a:latin typeface="Calibri" pitchFamily="34" charset="0"/>
                <a:ea typeface="Calibri" pitchFamily="34" charset="-122"/>
                <a:cs typeface="Calibri" pitchFamily="34" charset="-120"/>
              </a:rPr>
              <a:t>vSeva Design Evolution</a:t>
            </a:r>
            <a:endParaRPr lang="en-US" sz="1300" dirty="0"/>
          </a:p>
        </p:txBody>
      </p:sp>
      <p:sp>
        <p:nvSpPr>
          <p:cNvPr id="25" name="Shape 23"/>
          <p:cNvSpPr/>
          <p:nvPr/>
        </p:nvSpPr>
        <p:spPr>
          <a:xfrm>
            <a:off x="594360" y="2395728"/>
            <a:ext cx="1691640" cy="1280160"/>
          </a:xfrm>
          <a:prstGeom prst="roundRect">
            <a:avLst>
              <a:gd name="adj" fmla="val 5714"/>
            </a:avLst>
          </a:prstGeom>
          <a:solidFill>
            <a:srgbClr val="FDECEC"/>
          </a:solidFill>
          <a:ln w="6350">
            <a:solidFill>
              <a:srgbClr val="F5C2C2"/>
            </a:solidFill>
            <a:prstDash val="solid"/>
          </a:ln>
        </p:spPr>
      </p:sp>
      <p:sp>
        <p:nvSpPr>
          <p:cNvPr id="26" name="Text 24"/>
          <p:cNvSpPr txBox="1"/>
          <p:nvPr/>
        </p:nvSpPr>
        <p:spPr>
          <a:xfrm>
            <a:off x="685800" y="2468880"/>
            <a:ext cx="1508760" cy="1133856"/>
          </a:xfrm>
          <a:prstGeom prst="rect">
            <a:avLst/>
          </a:prstGeom>
          <a:noFill/>
          <a:ln/>
        </p:spPr>
        <p:txBody>
          <a:bodyPr wrap="square" lIns="0" tIns="0" rIns="0" bIns="0" rtlCol="0" anchor="t"/>
          <a:lstStyle/>
          <a:p>
            <a:pPr indent="0" marL="0">
              <a:spcAft>
                <a:spcPts val="300"/>
              </a:spcAft>
              <a:buNone/>
            </a:pPr>
            <a:r>
              <a:rPr lang="en-US" sz="1100" b="1" dirty="0">
                <a:solidFill>
                  <a:srgbClr val="B91C1C"/>
                </a:solidFill>
                <a:latin typeface="Calibri" pitchFamily="34" charset="0"/>
                <a:ea typeface="Calibri" pitchFamily="34" charset="-122"/>
                <a:cs typeface="Calibri" pitchFamily="34" charset="-120"/>
              </a:rPr>
              <a:t>BEFORE</a:t>
            </a:r>
            <a:endParaRPr lang="en-US" sz="1100" dirty="0"/>
          </a:p>
          <a:p>
            <a:pPr marL="152400" indent="-152400">
              <a:spcAft>
                <a:spcPts val="300"/>
              </a:spcAft>
              <a:buSzPct val="100000"/>
              <a:buChar char="•"/>
            </a:pPr>
            <a:r>
              <a:rPr lang="en-US" sz="1100" dirty="0">
                <a:solidFill>
                  <a:srgbClr val="241C17"/>
                </a:solidFill>
                <a:latin typeface="Calibri" pitchFamily="34" charset="0"/>
                <a:ea typeface="Calibri" pitchFamily="34" charset="-122"/>
                <a:cs typeface="Calibri" pitchFamily="34" charset="-120"/>
              </a:rPr>
              <a:t>Information-heavy</a:t>
            </a:r>
            <a:endParaRPr lang="en-US" sz="1100" dirty="0"/>
          </a:p>
          <a:p>
            <a:pPr marL="152400" indent="-152400">
              <a:spcAft>
                <a:spcPts val="300"/>
              </a:spcAft>
              <a:buSzPct val="100000"/>
              <a:buChar char="•"/>
            </a:pPr>
            <a:r>
              <a:rPr lang="en-US" sz="1100" dirty="0">
                <a:solidFill>
                  <a:srgbClr val="241C17"/>
                </a:solidFill>
                <a:latin typeface="Calibri" pitchFamily="34" charset="0"/>
                <a:ea typeface="Calibri" pitchFamily="34" charset="-122"/>
                <a:cs typeface="Calibri" pitchFamily="34" charset="-120"/>
              </a:rPr>
              <a:t>Unclear hierarchy</a:t>
            </a:r>
            <a:endParaRPr lang="en-US" sz="1100" dirty="0"/>
          </a:p>
          <a:p>
            <a:pPr marL="152400" indent="-152400">
              <a:spcAft>
                <a:spcPts val="300"/>
              </a:spcAft>
              <a:buSzPct val="100000"/>
              <a:buChar char="•"/>
            </a:pPr>
            <a:r>
              <a:rPr lang="en-US" sz="1100" dirty="0">
                <a:solidFill>
                  <a:srgbClr val="241C17"/>
                </a:solidFill>
                <a:latin typeface="Calibri" pitchFamily="34" charset="0"/>
                <a:ea typeface="Calibri" pitchFamily="34" charset="-122"/>
                <a:cs typeface="Calibri" pitchFamily="34" charset="-120"/>
              </a:rPr>
              <a:t>Possible overflow</a:t>
            </a:r>
            <a:endParaRPr lang="en-US" sz="1100" dirty="0"/>
          </a:p>
        </p:txBody>
      </p:sp>
      <p:sp>
        <p:nvSpPr>
          <p:cNvPr id="27" name="Text 25"/>
          <p:cNvSpPr txBox="1"/>
          <p:nvPr/>
        </p:nvSpPr>
        <p:spPr>
          <a:xfrm>
            <a:off x="2286000" y="2395728"/>
            <a:ext cx="274320" cy="1280160"/>
          </a:xfrm>
          <a:prstGeom prst="rect">
            <a:avLst/>
          </a:prstGeom>
          <a:noFill/>
          <a:ln/>
        </p:spPr>
        <p:txBody>
          <a:bodyPr wrap="square" lIns="0" tIns="0" rIns="0" bIns="0" rtlCol="0" anchor="ctr"/>
          <a:lstStyle/>
          <a:p>
            <a:pPr algn="ctr" indent="0" marL="0">
              <a:buNone/>
            </a:pPr>
            <a:r>
              <a:rPr lang="en-US" sz="1800" b="1" dirty="0">
                <a:solidFill>
                  <a:srgbClr val="EA580C"/>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2560320" y="2395728"/>
            <a:ext cx="1691640" cy="1280160"/>
          </a:xfrm>
          <a:prstGeom prst="roundRect">
            <a:avLst>
              <a:gd name="adj" fmla="val 5714"/>
            </a:avLst>
          </a:prstGeom>
          <a:solidFill>
            <a:srgbClr val="E8F6EC"/>
          </a:solidFill>
          <a:ln w="6350">
            <a:solidFill>
              <a:srgbClr val="B7E1C4"/>
            </a:solidFill>
            <a:prstDash val="solid"/>
          </a:ln>
        </p:spPr>
      </p:sp>
      <p:sp>
        <p:nvSpPr>
          <p:cNvPr id="29" name="Text 27"/>
          <p:cNvSpPr txBox="1"/>
          <p:nvPr/>
        </p:nvSpPr>
        <p:spPr>
          <a:xfrm>
            <a:off x="2651760" y="2468880"/>
            <a:ext cx="1508760" cy="1133856"/>
          </a:xfrm>
          <a:prstGeom prst="rect">
            <a:avLst/>
          </a:prstGeom>
          <a:noFill/>
          <a:ln/>
        </p:spPr>
        <p:txBody>
          <a:bodyPr wrap="square" lIns="0" tIns="0" rIns="0" bIns="0" rtlCol="0" anchor="t"/>
          <a:lstStyle/>
          <a:p>
            <a:pPr indent="0" marL="0">
              <a:spcAft>
                <a:spcPts val="200"/>
              </a:spcAft>
              <a:buNone/>
            </a:pPr>
            <a:r>
              <a:rPr lang="en-US" sz="1100" b="1" dirty="0">
                <a:solidFill>
                  <a:srgbClr val="15803D"/>
                </a:solidFill>
                <a:latin typeface="Calibri" pitchFamily="34" charset="0"/>
                <a:ea typeface="Calibri" pitchFamily="34" charset="-122"/>
                <a:cs typeface="Calibri" pitchFamily="34" charset="-120"/>
              </a:rPr>
              <a:t>AFTER</a:t>
            </a:r>
            <a:endParaRPr lang="en-US" sz="1100" dirty="0"/>
          </a:p>
          <a:p>
            <a:pPr marL="152400" indent="-152400">
              <a:spcAft>
                <a:spcPts val="200"/>
              </a:spcAft>
              <a:buSzPct val="100000"/>
              <a:buChar char="•"/>
            </a:pPr>
            <a:r>
              <a:rPr lang="en-US" sz="1100" dirty="0">
                <a:solidFill>
                  <a:srgbClr val="241C17"/>
                </a:solidFill>
                <a:latin typeface="Calibri" pitchFamily="34" charset="0"/>
                <a:ea typeface="Calibri" pitchFamily="34" charset="-122"/>
                <a:cs typeface="Calibri" pitchFamily="34" charset="-120"/>
              </a:rPr>
              <a:t>Clear hierarchy</a:t>
            </a:r>
            <a:endParaRPr lang="en-US" sz="1100" dirty="0"/>
          </a:p>
          <a:p>
            <a:pPr marL="152400" indent="-152400">
              <a:spcAft>
                <a:spcPts val="200"/>
              </a:spcAft>
              <a:buSzPct val="100000"/>
              <a:buChar char="•"/>
            </a:pPr>
            <a:r>
              <a:rPr lang="en-US" sz="1100" dirty="0">
                <a:solidFill>
                  <a:srgbClr val="241C17"/>
                </a:solidFill>
                <a:latin typeface="Calibri" pitchFamily="34" charset="0"/>
                <a:ea typeface="Calibri" pitchFamily="34" charset="-122"/>
                <a:cs typeface="Calibri" pitchFamily="34" charset="-120"/>
              </a:rPr>
              <a:t>Responsive cards</a:t>
            </a:r>
            <a:endParaRPr lang="en-US" sz="1100" dirty="0"/>
          </a:p>
          <a:p>
            <a:pPr marL="152400" indent="-152400">
              <a:spcAft>
                <a:spcPts val="200"/>
              </a:spcAft>
              <a:buSzPct val="100000"/>
              <a:buChar char="•"/>
            </a:pPr>
            <a:r>
              <a:rPr lang="en-US" sz="1100" dirty="0">
                <a:solidFill>
                  <a:srgbClr val="241C17"/>
                </a:solidFill>
                <a:latin typeface="Calibri" pitchFamily="34" charset="0"/>
                <a:ea typeface="Calibri" pitchFamily="34" charset="-122"/>
                <a:cs typeface="Calibri" pitchFamily="34" charset="-120"/>
              </a:rPr>
              <a:t>Simple navigation</a:t>
            </a:r>
            <a:endParaRPr lang="en-US" sz="1100" dirty="0"/>
          </a:p>
          <a:p>
            <a:pPr marL="152400" indent="-152400">
              <a:spcAft>
                <a:spcPts val="200"/>
              </a:spcAft>
              <a:buSzPct val="100000"/>
              <a:buChar char="•"/>
            </a:pPr>
            <a:r>
              <a:rPr lang="en-US" sz="1100" dirty="0">
                <a:solidFill>
                  <a:srgbClr val="241C17"/>
                </a:solidFill>
                <a:latin typeface="Calibri" pitchFamily="34" charset="0"/>
                <a:ea typeface="Calibri" pitchFamily="34" charset="-122"/>
                <a:cs typeface="Calibri" pitchFamily="34" charset="-120"/>
              </a:rPr>
              <a:t>Visible status</a:t>
            </a:r>
            <a:endParaRPr lang="en-US" sz="1100" dirty="0"/>
          </a:p>
          <a:p>
            <a:pPr marL="152400" indent="-152400">
              <a:spcAft>
                <a:spcPts val="200"/>
              </a:spcAft>
              <a:buSzPct val="100000"/>
              <a:buChar char="•"/>
            </a:pPr>
            <a:r>
              <a:rPr lang="en-US" sz="1100" dirty="0">
                <a:solidFill>
                  <a:srgbClr val="241C17"/>
                </a:solidFill>
                <a:latin typeface="Calibri" pitchFamily="34" charset="0"/>
                <a:ea typeface="Calibri" pitchFamily="34" charset="-122"/>
                <a:cs typeface="Calibri" pitchFamily="34" charset="-120"/>
              </a:rPr>
              <a:t>Fast interactions</a:t>
            </a:r>
            <a:endParaRPr lang="en-US" sz="1100" dirty="0"/>
          </a:p>
        </p:txBody>
      </p:sp>
      <p:sp>
        <p:nvSpPr>
          <p:cNvPr id="30" name="Shape 28"/>
          <p:cNvSpPr/>
          <p:nvPr/>
        </p:nvSpPr>
        <p:spPr>
          <a:xfrm>
            <a:off x="4663440" y="2011680"/>
            <a:ext cx="4023360" cy="1783080"/>
          </a:xfrm>
          <a:prstGeom prst="roundRect">
            <a:avLst>
              <a:gd name="adj" fmla="val 5128"/>
            </a:avLst>
          </a:prstGeom>
          <a:solidFill>
            <a:srgbClr val="FAF6F0"/>
          </a:solidFill>
          <a:ln w="9525">
            <a:solidFill>
              <a:srgbClr val="EADFD2"/>
            </a:solidFill>
            <a:prstDash val="solid"/>
          </a:ln>
        </p:spPr>
      </p:sp>
      <p:sp>
        <p:nvSpPr>
          <p:cNvPr id="31" name="Text 29"/>
          <p:cNvSpPr txBox="1"/>
          <p:nvPr/>
        </p:nvSpPr>
        <p:spPr>
          <a:xfrm>
            <a:off x="4800600" y="2075688"/>
            <a:ext cx="3749040" cy="256032"/>
          </a:xfrm>
          <a:prstGeom prst="rect">
            <a:avLst/>
          </a:prstGeom>
          <a:noFill/>
          <a:ln/>
        </p:spPr>
        <p:txBody>
          <a:bodyPr wrap="square" lIns="0" tIns="0" rIns="0" bIns="0" rtlCol="0" anchor="ctr"/>
          <a:lstStyle/>
          <a:p>
            <a:pPr indent="0" marL="0">
              <a:buNone/>
            </a:pPr>
            <a:r>
              <a:rPr lang="en-US" sz="1300" b="1" dirty="0">
                <a:solidFill>
                  <a:srgbClr val="241C17"/>
                </a:solidFill>
                <a:latin typeface="Calibri" pitchFamily="34" charset="0"/>
                <a:ea typeface="Calibri" pitchFamily="34" charset="-122"/>
                <a:cs typeface="Calibri" pitchFamily="34" charset="-120"/>
              </a:rPr>
              <a:t>Key principles</a:t>
            </a:r>
            <a:endParaRPr lang="en-US" sz="1300" dirty="0"/>
          </a:p>
        </p:txBody>
      </p:sp>
      <p:sp>
        <p:nvSpPr>
          <p:cNvPr id="32" name="Text 30"/>
          <p:cNvSpPr txBox="1"/>
          <p:nvPr/>
        </p:nvSpPr>
        <p:spPr>
          <a:xfrm>
            <a:off x="4800600" y="2359152"/>
            <a:ext cx="3749040" cy="1508760"/>
          </a:xfrm>
          <a:prstGeom prst="rect">
            <a:avLst/>
          </a:prstGeom>
          <a:noFill/>
          <a:ln/>
        </p:spPr>
        <p:txBody>
          <a:bodyPr wrap="square" lIns="0" tIns="0" rIns="0" bIns="0" rtlCol="0" anchor="t"/>
          <a:lstStyle/>
          <a:p>
            <a:pPr indent="0" marL="0">
              <a:spcAft>
                <a:spcPts val="300"/>
              </a:spcAft>
              <a:buNone/>
            </a:pPr>
            <a:r>
              <a:rPr lang="en-US" sz="1100" b="1" dirty="0">
                <a:solidFill>
                  <a:srgbClr val="C2410C"/>
                </a:solidFill>
                <a:latin typeface="Calibri" pitchFamily="34" charset="0"/>
                <a:ea typeface="Calibri" pitchFamily="34" charset="-122"/>
                <a:cs typeface="Calibri" pitchFamily="34" charset="-120"/>
              </a:rPr>
              <a:t>Nielsen’s heuristics: </a:t>
            </a:r>
            <a:pPr indent="0" marL="0">
              <a:spcAft>
                <a:spcPts val="300"/>
              </a:spcAft>
              <a:buNone/>
            </a:pPr>
            <a:r>
              <a:rPr lang="en-US" sz="1100" dirty="0">
                <a:solidFill>
                  <a:srgbClr val="241C17"/>
                </a:solidFill>
                <a:latin typeface="Calibri" pitchFamily="34" charset="0"/>
                <a:ea typeface="Calibri" pitchFamily="34" charset="-122"/>
                <a:cs typeface="Calibri" pitchFamily="34" charset="-120"/>
              </a:rPr>
              <a:t>visibility of status · real-world match · consistency · error prevention · recognition over recall</a:t>
            </a:r>
            <a:endParaRPr lang="en-US" sz="1100" dirty="0"/>
          </a:p>
          <a:p>
            <a:pPr indent="0" marL="0">
              <a:spcAft>
                <a:spcPts val="300"/>
              </a:spcAft>
              <a:buNone/>
            </a:pPr>
            <a:r>
              <a:rPr lang="en-US" sz="1100" b="1" dirty="0">
                <a:solidFill>
                  <a:srgbClr val="C2410C"/>
                </a:solidFill>
                <a:latin typeface="Calibri" pitchFamily="34" charset="0"/>
                <a:ea typeface="Calibri" pitchFamily="34" charset="-122"/>
                <a:cs typeface="Calibri" pitchFamily="34" charset="-120"/>
              </a:rPr>
              <a:t>Gestalt </a:t>
            </a:r>
            <a:pPr indent="0" marL="0">
              <a:spcAft>
                <a:spcPts val="300"/>
              </a:spcAft>
              <a:buNone/>
            </a:pPr>
            <a:r>
              <a:rPr lang="en-US" sz="1100" dirty="0">
                <a:solidFill>
                  <a:srgbClr val="241C17"/>
                </a:solidFill>
                <a:latin typeface="Calibri" pitchFamily="34" charset="0"/>
                <a:ea typeface="Calibri" pitchFamily="34" charset="-122"/>
                <a:cs typeface="Calibri" pitchFamily="34" charset="-120"/>
              </a:rPr>
              <a:t>→ grouping and proximity</a:t>
            </a:r>
            <a:endParaRPr lang="en-US" sz="1100" dirty="0"/>
          </a:p>
          <a:p>
            <a:pPr indent="0" marL="0">
              <a:spcAft>
                <a:spcPts val="300"/>
              </a:spcAft>
              <a:buNone/>
            </a:pPr>
            <a:r>
              <a:rPr lang="en-US" sz="1100" b="1" dirty="0">
                <a:solidFill>
                  <a:srgbClr val="C2410C"/>
                </a:solidFill>
                <a:latin typeface="Calibri" pitchFamily="34" charset="0"/>
                <a:ea typeface="Calibri" pitchFamily="34" charset="-122"/>
                <a:cs typeface="Calibri" pitchFamily="34" charset="-120"/>
              </a:rPr>
              <a:t>Fitts’s Law </a:t>
            </a:r>
            <a:pPr indent="0" marL="0">
              <a:spcAft>
                <a:spcPts val="300"/>
              </a:spcAft>
              <a:buNone/>
            </a:pPr>
            <a:r>
              <a:rPr lang="en-US" sz="1100" dirty="0">
                <a:solidFill>
                  <a:srgbClr val="241C17"/>
                </a:solidFill>
                <a:latin typeface="Calibri" pitchFamily="34" charset="0"/>
                <a:ea typeface="Calibri" pitchFamily="34" charset="-122"/>
                <a:cs typeface="Calibri" pitchFamily="34" charset="-120"/>
              </a:rPr>
              <a:t>→ easier-to-hit controls</a:t>
            </a:r>
            <a:endParaRPr lang="en-US" sz="1100" dirty="0"/>
          </a:p>
          <a:p>
            <a:pPr indent="0" marL="0">
              <a:spcAft>
                <a:spcPts val="300"/>
              </a:spcAft>
              <a:buNone/>
            </a:pPr>
            <a:r>
              <a:rPr lang="en-US" sz="1100" b="1" dirty="0">
                <a:solidFill>
                  <a:srgbClr val="C2410C"/>
                </a:solidFill>
                <a:latin typeface="Calibri" pitchFamily="34" charset="0"/>
                <a:ea typeface="Calibri" pitchFamily="34" charset="-122"/>
                <a:cs typeface="Calibri" pitchFamily="34" charset="-120"/>
              </a:rPr>
              <a:t>Hick’s Law </a:t>
            </a:r>
            <a:pPr indent="0" marL="0">
              <a:spcAft>
                <a:spcPts val="300"/>
              </a:spcAft>
              <a:buNone/>
            </a:pPr>
            <a:r>
              <a:rPr lang="en-US" sz="1100" dirty="0">
                <a:solidFill>
                  <a:srgbClr val="241C17"/>
                </a:solidFill>
                <a:latin typeface="Calibri" pitchFamily="34" charset="0"/>
                <a:ea typeface="Calibri" pitchFamily="34" charset="-122"/>
                <a:cs typeface="Calibri" pitchFamily="34" charset="-120"/>
              </a:rPr>
              <a:t>→ fewer choices, faster decisions</a:t>
            </a:r>
            <a:endParaRPr lang="en-US" sz="1100" dirty="0"/>
          </a:p>
          <a:p>
            <a:pPr indent="0" marL="0">
              <a:spcAft>
                <a:spcPts val="300"/>
              </a:spcAft>
              <a:buNone/>
            </a:pPr>
            <a:r>
              <a:rPr lang="en-US" sz="1100" b="1" dirty="0">
                <a:solidFill>
                  <a:srgbClr val="C2410C"/>
                </a:solidFill>
                <a:latin typeface="Calibri" pitchFamily="34" charset="0"/>
                <a:ea typeface="Calibri" pitchFamily="34" charset="-122"/>
                <a:cs typeface="Calibri" pitchFamily="34" charset="-120"/>
              </a:rPr>
              <a:t>Accessibility </a:t>
            </a:r>
            <a:pPr indent="0" marL="0">
              <a:spcAft>
                <a:spcPts val="300"/>
              </a:spcAft>
              <a:buNone/>
            </a:pPr>
            <a:r>
              <a:rPr lang="en-US" sz="1100" dirty="0">
                <a:solidFill>
                  <a:srgbClr val="241C17"/>
                </a:solidFill>
                <a:latin typeface="Calibri" pitchFamily="34" charset="0"/>
                <a:ea typeface="Calibri" pitchFamily="34" charset="-122"/>
                <a:cs typeface="Calibri" pitchFamily="34" charset="-120"/>
              </a:rPr>
              <a:t>→ readable text, contrast, touch-friendly controls</a:t>
            </a:r>
            <a:endParaRPr lang="en-US" sz="1100" dirty="0"/>
          </a:p>
        </p:txBody>
      </p:sp>
      <p:sp>
        <p:nvSpPr>
          <p:cNvPr id="33" name="Text 31"/>
          <p:cNvSpPr txBox="1"/>
          <p:nvPr/>
        </p:nvSpPr>
        <p:spPr>
          <a:xfrm>
            <a:off x="457200" y="4114800"/>
            <a:ext cx="2377440" cy="548640"/>
          </a:xfrm>
          <a:prstGeom prst="rect">
            <a:avLst/>
          </a:prstGeom>
          <a:noFill/>
          <a:ln/>
        </p:spPr>
        <p:txBody>
          <a:bodyPr wrap="square" lIns="0" tIns="0" rIns="0" bIns="0" rtlCol="0" anchor="ctr"/>
          <a:lstStyle/>
          <a:p>
            <a:pPr indent="0" marL="0">
              <a:buNone/>
            </a:pPr>
            <a:r>
              <a:rPr lang="en-US" sz="2800" b="1" dirty="0">
                <a:solidFill>
                  <a:srgbClr val="EA580C"/>
                </a:solidFill>
                <a:latin typeface="Calibri" pitchFamily="34" charset="0"/>
                <a:ea typeface="Calibri" pitchFamily="34" charset="-122"/>
                <a:cs typeface="Calibri" pitchFamily="34" charset="-120"/>
              </a:rPr>
              <a:t>Thank You</a:t>
            </a:r>
            <a:endParaRPr lang="en-US" sz="2800" dirty="0"/>
          </a:p>
        </p:txBody>
      </p:sp>
      <p:sp>
        <p:nvSpPr>
          <p:cNvPr id="34" name="Text 32"/>
          <p:cNvSpPr txBox="1"/>
          <p:nvPr/>
        </p:nvSpPr>
        <p:spPr>
          <a:xfrm>
            <a:off x="2926080" y="4114800"/>
            <a:ext cx="5760720" cy="548640"/>
          </a:xfrm>
          <a:prstGeom prst="rect">
            <a:avLst/>
          </a:prstGeom>
          <a:noFill/>
          <a:ln/>
        </p:spPr>
        <p:txBody>
          <a:bodyPr wrap="square" lIns="0" tIns="0" rIns="0" bIns="0" rtlCol="0" anchor="ctr"/>
          <a:lstStyle/>
          <a:p>
            <a:pPr indent="0" marL="0">
              <a:buNone/>
            </a:pPr>
            <a:r>
              <a:rPr lang="en-US" sz="1400" i="1" dirty="0">
                <a:solidFill>
                  <a:srgbClr val="6B5B50"/>
                </a:solidFill>
                <a:latin typeface="Calibri" pitchFamily="34" charset="0"/>
                <a:ea typeface="Calibri" pitchFamily="34" charset="-122"/>
                <a:cs typeface="Calibri" pitchFamily="34" charset="-120"/>
              </a:rPr>
              <a:t>Design is not just how an interface looks —</a:t>
            </a:r>
            <a:endParaRPr lang="en-US" sz="1400" dirty="0"/>
          </a:p>
          <a:p>
            <a:pPr indent="0" marL="0">
              <a:buNone/>
            </a:pPr>
            <a:r>
              <a:rPr lang="en-US" sz="1400" i="1" dirty="0">
                <a:solidFill>
                  <a:srgbClr val="6B5B50"/>
                </a:solidFill>
                <a:latin typeface="Calibri" pitchFamily="34" charset="0"/>
                <a:ea typeface="Calibri" pitchFamily="34" charset="-122"/>
                <a:cs typeface="Calibri" pitchFamily="34" charset="-120"/>
              </a:rPr>
              <a:t>it is how easily people accomplish their goals.</a:t>
            </a:r>
            <a:endParaRPr lang="en-US" sz="1400" dirty="0"/>
          </a:p>
        </p:txBody>
      </p:sp>
      <p:sp>
        <p:nvSpPr>
          <p:cNvPr id="25" name="Slide Number Placeholder 0"/>
          <p:cNvSpPr>
            <a:spLocks noGrp="1"/>
          </p:cNvSpPr>
          <p:nvPr>
            <p:ph type="sldNum" sz="quarter" idx="4294967295"/>
          </p:nvPr>
        </p:nvSpPr>
        <p:spPr>
          <a:xfrm>
            <a:off x="8321040" y="48463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A8B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vSeva Case Study">
  <a:themeElements>
    <a:clrScheme name="vSeva Case Study">
      <a:dk1>
        <a:srgbClr val="241C17"/>
      </a:dk1>
      <a:lt1>
        <a:srgbClr val="FFFFFF"/>
      </a:lt1>
      <a:dk2>
        <a:srgbClr val="6B5B50"/>
      </a:dk2>
      <a:lt2>
        <a:srgbClr val="FAF6F0"/>
      </a:lt2>
      <a:accent1>
        <a:srgbClr val="EA580C"/>
      </a:accent1>
      <a:accent2>
        <a:srgbClr val="2563EB"/>
      </a:accent2>
      <a:accent3>
        <a:srgbClr val="16A34A"/>
      </a:accent3>
      <a:accent4>
        <a:srgbClr val="DC2626"/>
      </a:accent4>
      <a:accent5>
        <a:srgbClr val="7C3AED"/>
      </a:accent5>
      <a:accent6>
        <a:srgbClr val="F59E0B"/>
      </a:accent6>
      <a:hlink>
        <a:srgbClr val="EA580C"/>
      </a:hlink>
      <a:folHlink>
        <a:srgbClr val="6B5B50"/>
      </a:folHlink>
    </a:clrScheme>
    <a:fontScheme name="vSeva Case Stud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 Design with a Real-Life App Example — Case Study: vSeva</dc:title>
  <dc:subject>PptxGenJS Presentation</dc:subject>
  <dc:creator>Vishwa Shah</dc:creator>
  <cp:lastModifiedBy>Vishwa Shah</cp:lastModifiedBy>
  <cp:revision>1</cp:revision>
  <dcterms:created xsi:type="dcterms:W3CDTF">2026-10-07T04:49:10Z</dcterms:created>
  <dcterms:modified xsi:type="dcterms:W3CDTF">2026-10-07T04:49:10Z</dcterms:modified>
</cp:coreProperties>
</file>